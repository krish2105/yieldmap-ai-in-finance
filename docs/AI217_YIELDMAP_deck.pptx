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problem, not the tech. Dubai publishes every sale and every tenancy as open data — the gap is between that record and a decision. Say the site is live and they can open it now. If the stand-in banner is up, name it in the first sentence rather than letting someone find it in question time: the honesty is part of the argument.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one-line version: the data is open, the interpretation is not. Portals price from asking prices because that is what they have; this uses the registry because it is published. If asked why net yield matters — service charge is the single largest cost and it is the one number a listing never carries.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verbs, not a feature list. If time is short, say the first and the third and move on. The line worth landing: the citation guarantee is enforced after the model has spoken — uncited sentences are removed — so it does not depend on the model choosing to comply.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Trace one number end to end if they ask: a tile on the city page comes from a typed KPI object that carries its own SQL, and clicking it opens that query with a copy button. The storage split is the answer to 'why two databases' — it started as a free-tier constraint and turned out to be what makes traceability enforceable.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Wake the API a minute before you start — free tier, cold start is roughly 50 seconds and it will be the longest pause of the talk. Demo order matters: KPI drawer first, because showing the SQL behind a number is the whole thesis and everything after it is easier once they have seen it. Arabic on Ask is the moment people remember; keep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the tiles — they are there so nobody has to. Spend the time on the accessibility story instead: the first pass reported zero violations and was measuring a half-faded page. Fixing the test surfaced seven real problems. That is the honest version of a green number and it is worth more than the number.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examiner's question is 'is 18.9% good?' — the answer is that it is meaningless on its own, which is why all three numbers are on the slide. Half the remaining error is noise no model can reach. If the stand-in banner is showing, say plainly that this measures the code and not the market, and that loading real files changes every number without a code change.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 with the weakness, because they will find it: recall@5 of 1.00 on a 117-chunk corpus proves nothing, and saying so first is worth more than defending it later. The rejected threshold is the strongest slide in the deck for a research question — a negative result, measured, recorded, with the reason it fails: the distinguishing word is one token in an otherwise on-topic sentence, and every signal averages it away.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to slow down on. The claim 'retrieved text is treated as data' was true of the wrapping and false of the holding, and nothing in the test suite would have caught it — the existing attack asked the model to disobey, and this one removes the rule instead. Say that the secret scanner would never have found the key leak either, because the key was never in a file. Static scanning and runtime handling are different problems.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useful half of this slide is the binding constraint, not the zero. Knowing which quota runs out first tells you what to fix, and it is not the one most people would guess. If asked about scaling to paid: the architecture does not assume a free tier anywhere — the chain simply starts at a different rung.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Put this before next steps, not after — a limitations slide that comes last reads as an apology, and coming here it reads as command of the material. The line to use if pressed on the data: it is a data problem, not a code problem. Everything downstream is built and gated; a person can download the files in a browser in minutes and one command loads them.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first item and stop talking. If there is one question you want, it is about the data path — you have a complete answer and it makes the project look finished rather than blocked. Have docs/viva_qa.md open on a second screen; the fifteen questions there each name the file that backs the answer.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0"/>
            <a:ext cx="12191695" cy="4114800"/>
          </a:xfrm>
          <a:prstGeom prst="roundRect">
            <a:avLst>
              <a:gd name="adj" fmla="val 6000"/>
            </a:avLst>
          </a:prstGeom>
          <a:solidFill>
            <a:srgbClr val="1F7A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234440"/>
            <a:ext cx="10820095" cy="1280160"/>
          </a:xfrm>
          <a:prstGeom prst="rect">
            <a:avLst/>
          </a:prstGeom>
          <a:noFill/>
        </p:spPr>
        <p:txBody>
          <a:bodyPr wrap="square" lIns="0" rIns="0" tIns="0" bIns="0" anchor="t">
            <a:spAutoFit/>
          </a:bodyPr>
          <a:lstStyle/>
          <a:p>
            <a:pPr algn="l"/>
            <a:r>
              <a:rPr sz="6400" b="1" i="0">
                <a:solidFill>
                  <a:srgbClr val="FFFFFF"/>
                </a:solidFill>
                <a:latin typeface="Cambria"/>
              </a:rPr>
              <a:t>YIELDMAP</a:t>
            </a:r>
          </a:p>
        </p:txBody>
      </p:sp>
      <p:sp>
        <p:nvSpPr>
          <p:cNvPr id="4" name="TextBox 3"/>
          <p:cNvSpPr txBox="1"/>
          <p:nvPr/>
        </p:nvSpPr>
        <p:spPr>
          <a:xfrm>
            <a:off x="685800" y="2423160"/>
            <a:ext cx="8778240" cy="914400"/>
          </a:xfrm>
          <a:prstGeom prst="rect">
            <a:avLst/>
          </a:prstGeom>
          <a:noFill/>
        </p:spPr>
        <p:txBody>
          <a:bodyPr wrap="square" lIns="0" rIns="0" tIns="0" bIns="0" anchor="t">
            <a:spAutoFit/>
          </a:bodyPr>
          <a:lstStyle/>
          <a:p>
            <a:pPr algn="l"/>
            <a:r>
              <a:rPr sz="1900" b="0" i="0">
                <a:solidFill>
                  <a:srgbClr val="FFFFFF"/>
                </a:solidFill>
                <a:latin typeface="Calibri"/>
              </a:rPr>
              <a:t>Dubai property investment intelligence, where every number carries the query that produced it.</a:t>
            </a:r>
          </a:p>
        </p:txBody>
      </p:sp>
      <p:sp>
        <p:nvSpPr>
          <p:cNvPr id="5" name="TextBox 4"/>
          <p:cNvSpPr txBox="1"/>
          <p:nvPr/>
        </p:nvSpPr>
        <p:spPr>
          <a:xfrm>
            <a:off x="685800" y="4526280"/>
            <a:ext cx="8229600" cy="1097280"/>
          </a:xfrm>
          <a:prstGeom prst="rect">
            <a:avLst/>
          </a:prstGeom>
          <a:noFill/>
        </p:spPr>
        <p:txBody>
          <a:bodyPr wrap="square" lIns="0" rIns="0" tIns="0" bIns="0" anchor="t">
            <a:spAutoFit/>
          </a:bodyPr>
          <a:lstStyle/>
          <a:p>
            <a:pPr algn="l"/>
            <a:r>
              <a:rPr sz="1700" b="1" i="0">
                <a:solidFill>
                  <a:srgbClr val="141A19"/>
                </a:solidFill>
                <a:latin typeface="Cambria"/>
              </a:rPr>
              <a:t>AI 217 — Artificial Intelligence in Finance</a:t>
            </a:r>
          </a:p>
        </p:txBody>
      </p:sp>
      <p:sp>
        <p:nvSpPr>
          <p:cNvPr id="6" name="TextBox 5"/>
          <p:cNvSpPr txBox="1"/>
          <p:nvPr/>
        </p:nvSpPr>
        <p:spPr>
          <a:xfrm>
            <a:off x="685800" y="4983480"/>
            <a:ext cx="8229600" cy="1097280"/>
          </a:xfrm>
          <a:prstGeom prst="rect">
            <a:avLst/>
          </a:prstGeom>
          <a:noFill/>
        </p:spPr>
        <p:txBody>
          <a:bodyPr wrap="square" lIns="0" rIns="0" tIns="0" bIns="0" anchor="t">
            <a:spAutoFit/>
          </a:bodyPr>
          <a:lstStyle/>
          <a:p>
            <a:pPr algn="l"/>
            <a:r>
              <a:rPr sz="1300" b="0" i="0">
                <a:solidFill>
                  <a:srgbClr val="5F6B68"/>
                </a:solidFill>
                <a:latin typeface="Calibri"/>
              </a:rPr>
              <a:t>Krishna Mathur · SP Jain School of Global Management, MAIB</a:t>
            </a:r>
          </a:p>
        </p:txBody>
      </p:sp>
      <p:sp>
        <p:nvSpPr>
          <p:cNvPr id="7" name="TextBox 6"/>
          <p:cNvSpPr txBox="1"/>
          <p:nvPr/>
        </p:nvSpPr>
        <p:spPr>
          <a:xfrm>
            <a:off x="685800" y="5358384"/>
            <a:ext cx="8229600" cy="457200"/>
          </a:xfrm>
          <a:prstGeom prst="rect">
            <a:avLst/>
          </a:prstGeom>
          <a:noFill/>
        </p:spPr>
        <p:txBody>
          <a:bodyPr wrap="square" lIns="0" rIns="0" tIns="0" bIns="0" anchor="t">
            <a:spAutoFit/>
          </a:bodyPr>
          <a:lstStyle/>
          <a:p>
            <a:pPr algn="l"/>
            <a:r>
              <a:rPr sz="1200" b="1" i="0">
                <a:solidFill>
                  <a:srgbClr val="1F7A70"/>
                </a:solidFill>
                <a:latin typeface="Calibri"/>
              </a:rPr>
              <a:t>https://yieldmap.vercel.app</a:t>
            </a:r>
          </a:p>
        </p:txBody>
      </p:sp>
      <p:sp>
        <p:nvSpPr>
          <p:cNvPr id="8" name="Rounded Rectangle 7"/>
          <p:cNvSpPr/>
          <p:nvPr/>
        </p:nvSpPr>
        <p:spPr>
          <a:xfrm>
            <a:off x="7985455" y="4526280"/>
            <a:ext cx="3520440" cy="1371600"/>
          </a:xfrm>
          <a:prstGeom prst="roundRect">
            <a:avLst>
              <a:gd name="adj" fmla="val 6000"/>
            </a:avLst>
          </a:prstGeom>
          <a:solidFill>
            <a:srgbClr val="FD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14056" y="4681728"/>
            <a:ext cx="3063240" cy="365760"/>
          </a:xfrm>
          <a:prstGeom prst="rect">
            <a:avLst/>
          </a:prstGeom>
          <a:noFill/>
        </p:spPr>
        <p:txBody>
          <a:bodyPr wrap="square" lIns="0" rIns="0" tIns="0" bIns="0" anchor="t">
            <a:spAutoFit/>
          </a:bodyPr>
          <a:lstStyle/>
          <a:p>
            <a:pPr algn="l"/>
            <a:r>
              <a:rPr sz="1050" b="1" i="0">
                <a:solidFill>
                  <a:srgbClr val="9A3A12"/>
                </a:solidFill>
                <a:latin typeface="Calibri"/>
              </a:rPr>
              <a:t>FIGURES FROM A LABELLED STAND-IN</a:t>
            </a:r>
          </a:p>
        </p:txBody>
      </p:sp>
      <p:sp>
        <p:nvSpPr>
          <p:cNvPr id="10" name="TextBox 9"/>
          <p:cNvSpPr txBox="1"/>
          <p:nvPr/>
        </p:nvSpPr>
        <p:spPr>
          <a:xfrm>
            <a:off x="8214056" y="5074920"/>
            <a:ext cx="3063240" cy="731520"/>
          </a:xfrm>
          <a:prstGeom prst="rect">
            <a:avLst/>
          </a:prstGeom>
          <a:noFill/>
        </p:spPr>
        <p:txBody>
          <a:bodyPr wrap="square" lIns="0" rIns="0" tIns="0" bIns="0" anchor="t">
            <a:spAutoFit/>
          </a:bodyPr>
          <a:lstStyle/>
          <a:p>
            <a:pPr algn="l"/>
            <a:r>
              <a:rPr sz="950" b="0" i="0">
                <a:solidFill>
                  <a:srgbClr val="5F6B68"/>
                </a:solidFill>
                <a:latin typeface="Calibri"/>
              </a:rPr>
              <a:t>The registry portal refuses automated clients. Model numbers exercise the pipeline; they are not claims about Dubai.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66928"/>
            <a:ext cx="10820095" cy="914400"/>
          </a:xfrm>
          <a:prstGeom prst="rect">
            <a:avLst/>
          </a:prstGeom>
          <a:noFill/>
        </p:spPr>
        <p:txBody>
          <a:bodyPr wrap="square" lIns="0" rIns="0" tIns="0" bIns="0" anchor="t">
            <a:spAutoFit/>
          </a:bodyPr>
          <a:lstStyle/>
          <a:p>
            <a:pPr algn="l"/>
            <a:r>
              <a:rPr sz="3800" b="1" i="0">
                <a:solidFill>
                  <a:srgbClr val="141A19"/>
                </a:solidFill>
                <a:latin typeface="Cambria"/>
              </a:rPr>
              <a:t>The data is public. The decision is not.</a:t>
            </a:r>
          </a:p>
        </p:txBody>
      </p:sp>
      <p:sp>
        <p:nvSpPr>
          <p:cNvPr id="3" name="TextBox 2"/>
          <p:cNvSpPr txBox="1"/>
          <p:nvPr/>
        </p:nvSpPr>
        <p:spPr>
          <a:xfrm>
            <a:off x="685800" y="2103120"/>
            <a:ext cx="5852160" cy="3291840"/>
          </a:xfrm>
          <a:prstGeom prst="rect">
            <a:avLst/>
          </a:prstGeom>
          <a:noFill/>
        </p:spPr>
        <p:txBody>
          <a:bodyPr wrap="square" lIns="0" rIns="0">
            <a:spAutoFit/>
          </a:bodyPr>
          <a:lstStyle/>
          <a:p>
            <a:pPr>
              <a:lnSpc>
                <a:spcPct val="120000"/>
              </a:lnSpc>
              <a:spcAft>
                <a:spcPts val="1000"/>
              </a:spcAft>
            </a:pPr>
            <a:r>
              <a:rPr sz="1550">
                <a:solidFill>
                  <a:srgbClr val="141A19"/>
                </a:solidFill>
                <a:latin typeface="Calibri"/>
              </a:rPr>
              <a:t>Every Dubai sale is registered with the Land Department. Every tenancy is registered with Ejari. Both are published as open data.</a:t>
            </a:r>
          </a:p>
          <a:p>
            <a:pPr>
              <a:lnSpc>
                <a:spcPct val="120000"/>
              </a:lnSpc>
              <a:spcAft>
                <a:spcPts val="1000"/>
              </a:spcAft>
            </a:pPr>
            <a:r>
              <a:rPr sz="1550">
                <a:solidFill>
                  <a:srgbClr val="141A19"/>
                </a:solidFill>
                <a:latin typeface="Calibri"/>
              </a:rPr>
              <a:t>The portals that interpret it price from listings — asks, not transactions — and show no working.</a:t>
            </a:r>
          </a:p>
          <a:p>
            <a:pPr>
              <a:lnSpc>
                <a:spcPct val="120000"/>
              </a:lnSpc>
              <a:spcAft>
                <a:spcPts val="1000"/>
              </a:spcAft>
            </a:pPr>
            <a:r>
              <a:rPr sz="1550">
                <a:solidFill>
                  <a:srgbClr val="141A19"/>
                </a:solidFill>
                <a:latin typeface="Calibri"/>
              </a:rPr>
              <a:t>A buyer needs the net yield after service charge and vacancy, not the gross one. That number is rarely shown, and the gap between them is large.</a:t>
            </a:r>
          </a:p>
        </p:txBody>
      </p:sp>
      <p:sp>
        <p:nvSpPr>
          <p:cNvPr id="4" name="Rounded Rectangle 3"/>
          <p:cNvSpPr/>
          <p:nvPr/>
        </p:nvSpPr>
        <p:spPr>
          <a:xfrm>
            <a:off x="6949440" y="2286000"/>
            <a:ext cx="2148840" cy="2103120"/>
          </a:xfrm>
          <a:prstGeom prst="roundRect">
            <a:avLst>
              <a:gd name="adj" fmla="val 6000"/>
            </a:avLst>
          </a:prstGeom>
          <a:solidFill>
            <a:srgbClr val="E6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949440" y="2606040"/>
            <a:ext cx="2148840" cy="777240"/>
          </a:xfrm>
          <a:prstGeom prst="rect">
            <a:avLst/>
          </a:prstGeom>
          <a:noFill/>
        </p:spPr>
        <p:txBody>
          <a:bodyPr wrap="square" lIns="0" rIns="0" tIns="0" bIns="0" anchor="t">
            <a:spAutoFit/>
          </a:bodyPr>
          <a:lstStyle/>
          <a:p>
            <a:pPr algn="ctr"/>
            <a:r>
              <a:rPr sz="3000" b="1" i="0">
                <a:solidFill>
                  <a:srgbClr val="1F7A70"/>
                </a:solidFill>
                <a:latin typeface="Cambria"/>
              </a:rPr>
              <a:t>Gross</a:t>
            </a:r>
          </a:p>
        </p:txBody>
      </p:sp>
      <p:sp>
        <p:nvSpPr>
          <p:cNvPr id="6" name="TextBox 5"/>
          <p:cNvSpPr txBox="1"/>
          <p:nvPr/>
        </p:nvSpPr>
        <p:spPr>
          <a:xfrm>
            <a:off x="6949440" y="3355848"/>
            <a:ext cx="2148840" cy="731520"/>
          </a:xfrm>
          <a:prstGeom prst="rect">
            <a:avLst/>
          </a:prstGeom>
          <a:noFill/>
        </p:spPr>
        <p:txBody>
          <a:bodyPr wrap="square" lIns="0" rIns="0" tIns="0" bIns="0" anchor="t">
            <a:spAutoFit/>
          </a:bodyPr>
          <a:lstStyle/>
          <a:p>
            <a:pPr algn="ctr"/>
            <a:r>
              <a:rPr sz="1100" b="0" i="0">
                <a:solidFill>
                  <a:srgbClr val="5F6B68"/>
                </a:solidFill>
                <a:latin typeface="Calibri"/>
              </a:rPr>
              <a:t>what portals quote</a:t>
            </a:r>
          </a:p>
        </p:txBody>
      </p:sp>
      <p:sp>
        <p:nvSpPr>
          <p:cNvPr id="7" name="Rounded Rectangle 6"/>
          <p:cNvSpPr/>
          <p:nvPr/>
        </p:nvSpPr>
        <p:spPr>
          <a:xfrm>
            <a:off x="9326880" y="2286000"/>
            <a:ext cx="2148840" cy="2103120"/>
          </a:xfrm>
          <a:prstGeom prst="roundRect">
            <a:avLst>
              <a:gd name="adj" fmla="val 6000"/>
            </a:avLst>
          </a:prstGeom>
          <a:solidFill>
            <a:srgbClr val="E6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0" y="2606040"/>
            <a:ext cx="2148840" cy="777240"/>
          </a:xfrm>
          <a:prstGeom prst="rect">
            <a:avLst/>
          </a:prstGeom>
          <a:noFill/>
        </p:spPr>
        <p:txBody>
          <a:bodyPr wrap="square" lIns="0" rIns="0" tIns="0" bIns="0" anchor="t">
            <a:spAutoFit/>
          </a:bodyPr>
          <a:lstStyle/>
          <a:p>
            <a:pPr algn="ctr"/>
            <a:r>
              <a:rPr sz="3000" b="1" i="0">
                <a:solidFill>
                  <a:srgbClr val="1F7A70"/>
                </a:solidFill>
                <a:latin typeface="Cambria"/>
              </a:rPr>
              <a:t>Net</a:t>
            </a:r>
          </a:p>
        </p:txBody>
      </p:sp>
      <p:sp>
        <p:nvSpPr>
          <p:cNvPr id="9" name="TextBox 8"/>
          <p:cNvSpPr txBox="1"/>
          <p:nvPr/>
        </p:nvSpPr>
        <p:spPr>
          <a:xfrm>
            <a:off x="9326880" y="3355848"/>
            <a:ext cx="2148840" cy="731520"/>
          </a:xfrm>
          <a:prstGeom prst="rect">
            <a:avLst/>
          </a:prstGeom>
          <a:noFill/>
        </p:spPr>
        <p:txBody>
          <a:bodyPr wrap="square" lIns="0" rIns="0" tIns="0" bIns="0" anchor="t">
            <a:spAutoFit/>
          </a:bodyPr>
          <a:lstStyle/>
          <a:p>
            <a:pPr algn="ctr"/>
            <a:r>
              <a:rPr sz="1100" b="0" i="0">
                <a:solidFill>
                  <a:srgbClr val="5F6B68"/>
                </a:solidFill>
                <a:latin typeface="Calibri"/>
              </a:rPr>
              <a:t>what you actually receive</a:t>
            </a:r>
          </a:p>
        </p:txBody>
      </p:sp>
      <p:sp>
        <p:nvSpPr>
          <p:cNvPr id="10" name="TextBox 9"/>
          <p:cNvSpPr txBox="1"/>
          <p:nvPr/>
        </p:nvSpPr>
        <p:spPr>
          <a:xfrm>
            <a:off x="6949440" y="4617720"/>
            <a:ext cx="4526280" cy="822960"/>
          </a:xfrm>
          <a:prstGeom prst="rect">
            <a:avLst/>
          </a:prstGeom>
          <a:noFill/>
        </p:spPr>
        <p:txBody>
          <a:bodyPr wrap="square" lIns="0" rIns="0" tIns="0" bIns="0" anchor="t">
            <a:spAutoFit/>
          </a:bodyPr>
          <a:lstStyle/>
          <a:p>
            <a:pPr algn="ctr"/>
            <a:r>
              <a:rPr sz="1200" b="0" i="1">
                <a:solidFill>
                  <a:srgbClr val="5F6B68"/>
                </a:solidFill>
                <a:latin typeface="Calibri"/>
              </a:rPr>
              <a:t>On the current data the median gap between them is 3.59 percentage points.</a:t>
            </a:r>
          </a:p>
        </p:txBody>
      </p:sp>
      <p:sp>
        <p:nvSpPr>
          <p:cNvPr id="11" name="TextBox 10"/>
          <p:cNvSpPr txBox="1"/>
          <p:nvPr/>
        </p:nvSpPr>
        <p:spPr>
          <a:xfrm>
            <a:off x="685800" y="6291072"/>
            <a:ext cx="10820095" cy="329184"/>
          </a:xfrm>
          <a:prstGeom prst="rect">
            <a:avLst/>
          </a:prstGeom>
          <a:noFill/>
        </p:spPr>
        <p:txBody>
          <a:bodyPr wrap="square" lIns="0" rIns="0" tIns="0" bIns="0" anchor="t">
            <a:spAutoFit/>
          </a:bodyPr>
          <a:lstStyle/>
          <a:p>
            <a:pPr algn="l"/>
            <a:r>
              <a:rPr sz="950" b="0" i="0">
                <a:solidFill>
                  <a:srgbClr val="5F6B68"/>
                </a:solidFill>
                <a:latin typeface="Calibri"/>
              </a:rPr>
              <a:t>Sources: DLD transaction registry, Ejari tenancy registry — docs/datasets.md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66928"/>
            <a:ext cx="10820095" cy="914400"/>
          </a:xfrm>
          <a:prstGeom prst="rect">
            <a:avLst/>
          </a:prstGeom>
          <a:noFill/>
        </p:spPr>
        <p:txBody>
          <a:bodyPr wrap="square" lIns="0" rIns="0" tIns="0" bIns="0" anchor="t">
            <a:spAutoFit/>
          </a:bodyPr>
          <a:lstStyle/>
          <a:p>
            <a:pPr algn="l"/>
            <a:r>
              <a:rPr sz="3800" b="1" i="0">
                <a:solidFill>
                  <a:srgbClr val="141A19"/>
                </a:solidFill>
                <a:latin typeface="Cambria"/>
              </a:rPr>
              <a:t>What it does</a:t>
            </a:r>
          </a:p>
        </p:txBody>
      </p:sp>
      <p:sp>
        <p:nvSpPr>
          <p:cNvPr id="3" name="TextBox 2"/>
          <p:cNvSpPr txBox="1"/>
          <p:nvPr/>
        </p:nvSpPr>
        <p:spPr>
          <a:xfrm>
            <a:off x="685800" y="1389888"/>
            <a:ext cx="10820095" cy="457200"/>
          </a:xfrm>
          <a:prstGeom prst="rect">
            <a:avLst/>
          </a:prstGeom>
          <a:noFill/>
        </p:spPr>
        <p:txBody>
          <a:bodyPr wrap="square" lIns="0" rIns="0" tIns="0" bIns="0" anchor="t">
            <a:spAutoFit/>
          </a:bodyPr>
          <a:lstStyle/>
          <a:p>
            <a:pPr algn="l"/>
            <a:r>
              <a:rPr sz="1400" b="0" i="1">
                <a:solidFill>
                  <a:srgbClr val="5F6B68"/>
                </a:solidFill>
                <a:latin typeface="Calibri"/>
              </a:rPr>
              <a:t>Four things, each traceable to a query</a:t>
            </a:r>
          </a:p>
        </p:txBody>
      </p:sp>
      <p:sp>
        <p:nvSpPr>
          <p:cNvPr id="4" name="Rounded Rectangle 3"/>
          <p:cNvSpPr/>
          <p:nvPr/>
        </p:nvSpPr>
        <p:spPr>
          <a:xfrm>
            <a:off x="685800" y="2148840"/>
            <a:ext cx="5257800" cy="1783080"/>
          </a:xfrm>
          <a:prstGeom prst="roundRect">
            <a:avLst>
              <a:gd name="adj" fmla="val 6000"/>
            </a:avLst>
          </a:prstGeom>
          <a:solidFill>
            <a:srgbClr val="E6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2350008"/>
            <a:ext cx="4709160" cy="365760"/>
          </a:xfrm>
          <a:prstGeom prst="rect">
            <a:avLst/>
          </a:prstGeom>
          <a:noFill/>
        </p:spPr>
        <p:txBody>
          <a:bodyPr wrap="square" lIns="0" rIns="0" tIns="0" bIns="0" anchor="t">
            <a:spAutoFit/>
          </a:bodyPr>
          <a:lstStyle/>
          <a:p>
            <a:pPr algn="l"/>
            <a:r>
              <a:rPr sz="2000" b="1" i="0">
                <a:solidFill>
                  <a:srgbClr val="1F7A70"/>
                </a:solidFill>
                <a:latin typeface="Cambria"/>
              </a:rPr>
              <a:t>Values</a:t>
            </a:r>
          </a:p>
        </p:txBody>
      </p:sp>
      <p:sp>
        <p:nvSpPr>
          <p:cNvPr id="6" name="TextBox 5"/>
          <p:cNvSpPr txBox="1"/>
          <p:nvPr/>
        </p:nvSpPr>
        <p:spPr>
          <a:xfrm>
            <a:off x="960120" y="2807208"/>
            <a:ext cx="4709160" cy="1005840"/>
          </a:xfrm>
          <a:prstGeom prst="rect">
            <a:avLst/>
          </a:prstGeom>
          <a:noFill/>
        </p:spPr>
        <p:txBody>
          <a:bodyPr wrap="square" lIns="0" rIns="0" tIns="0" bIns="0" anchor="t">
            <a:spAutoFit/>
          </a:bodyPr>
          <a:lstStyle/>
          <a:p>
            <a:pPr algn="l"/>
            <a:r>
              <a:rPr sz="1250" b="0" i="0">
                <a:solidFill>
                  <a:srgbClr val="141A19"/>
                </a:solidFill>
                <a:latin typeface="Calibri"/>
              </a:rPr>
              <a:t>A hedonic model on log price per square metre, scored against the area median a buyer would otherwise use.</a:t>
            </a:r>
          </a:p>
        </p:txBody>
      </p:sp>
      <p:sp>
        <p:nvSpPr>
          <p:cNvPr id="7" name="Rounded Rectangle 6"/>
          <p:cNvSpPr/>
          <p:nvPr/>
        </p:nvSpPr>
        <p:spPr>
          <a:xfrm>
            <a:off x="6217920" y="2148840"/>
            <a:ext cx="5257800" cy="1783080"/>
          </a:xfrm>
          <a:prstGeom prst="roundRect">
            <a:avLst>
              <a:gd name="adj" fmla="val 6000"/>
            </a:avLst>
          </a:prstGeom>
          <a:solidFill>
            <a:srgbClr val="E6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2350008"/>
            <a:ext cx="4709160" cy="365760"/>
          </a:xfrm>
          <a:prstGeom prst="rect">
            <a:avLst/>
          </a:prstGeom>
          <a:noFill/>
        </p:spPr>
        <p:txBody>
          <a:bodyPr wrap="square" lIns="0" rIns="0" tIns="0" bIns="0" anchor="t">
            <a:spAutoFit/>
          </a:bodyPr>
          <a:lstStyle/>
          <a:p>
            <a:pPr algn="l"/>
            <a:r>
              <a:rPr sz="2000" b="1" i="0">
                <a:solidFill>
                  <a:srgbClr val="1F7A70"/>
                </a:solidFill>
                <a:latin typeface="Cambria"/>
              </a:rPr>
              <a:t>Yields</a:t>
            </a:r>
          </a:p>
        </p:txBody>
      </p:sp>
      <p:sp>
        <p:nvSpPr>
          <p:cNvPr id="9" name="TextBox 8"/>
          <p:cNvSpPr txBox="1"/>
          <p:nvPr/>
        </p:nvSpPr>
        <p:spPr>
          <a:xfrm>
            <a:off x="6492240" y="2807208"/>
            <a:ext cx="4709160" cy="1005840"/>
          </a:xfrm>
          <a:prstGeom prst="rect">
            <a:avLst/>
          </a:prstGeom>
          <a:noFill/>
        </p:spPr>
        <p:txBody>
          <a:bodyPr wrap="square" lIns="0" rIns="0" tIns="0" bIns="0" anchor="t">
            <a:spAutoFit/>
          </a:bodyPr>
          <a:lstStyle/>
          <a:p>
            <a:pPr algn="l"/>
            <a:r>
              <a:rPr sz="1250" b="0" i="0">
                <a:solidFill>
                  <a:srgbClr val="141A19"/>
                </a:solidFill>
                <a:latin typeface="Calibri"/>
              </a:rPr>
              <a:t>Gross and net, with every assumption editable and sourced, and thin cells suppressed rather than guessed.</a:t>
            </a:r>
          </a:p>
        </p:txBody>
      </p:sp>
      <p:sp>
        <p:nvSpPr>
          <p:cNvPr id="10" name="Rounded Rectangle 9"/>
          <p:cNvSpPr/>
          <p:nvPr/>
        </p:nvSpPr>
        <p:spPr>
          <a:xfrm>
            <a:off x="685800" y="4206240"/>
            <a:ext cx="5257800" cy="1783080"/>
          </a:xfrm>
          <a:prstGeom prst="roundRect">
            <a:avLst>
              <a:gd name="adj" fmla="val 6000"/>
            </a:avLst>
          </a:prstGeom>
          <a:solidFill>
            <a:srgbClr val="E6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4407408"/>
            <a:ext cx="4709160" cy="365760"/>
          </a:xfrm>
          <a:prstGeom prst="rect">
            <a:avLst/>
          </a:prstGeom>
          <a:noFill/>
        </p:spPr>
        <p:txBody>
          <a:bodyPr wrap="square" lIns="0" rIns="0" tIns="0" bIns="0" anchor="t">
            <a:spAutoFit/>
          </a:bodyPr>
          <a:lstStyle/>
          <a:p>
            <a:pPr algn="l"/>
            <a:r>
              <a:rPr sz="2000" b="1" i="0">
                <a:solidFill>
                  <a:srgbClr val="1F7A70"/>
                </a:solidFill>
                <a:latin typeface="Cambria"/>
              </a:rPr>
              <a:t>Explains</a:t>
            </a:r>
          </a:p>
        </p:txBody>
      </p:sp>
      <p:sp>
        <p:nvSpPr>
          <p:cNvPr id="12" name="TextBox 11"/>
          <p:cNvSpPr txBox="1"/>
          <p:nvPr/>
        </p:nvSpPr>
        <p:spPr>
          <a:xfrm>
            <a:off x="960120" y="4864608"/>
            <a:ext cx="4709160" cy="1005840"/>
          </a:xfrm>
          <a:prstGeom prst="rect">
            <a:avLst/>
          </a:prstGeom>
          <a:noFill/>
        </p:spPr>
        <p:txBody>
          <a:bodyPr wrap="square" lIns="0" rIns="0" tIns="0" bIns="0" anchor="t">
            <a:spAutoFit/>
          </a:bodyPr>
          <a:lstStyle/>
          <a:p>
            <a:pPr algn="l"/>
            <a:r>
              <a:rPr sz="1250" b="0" i="0">
                <a:solidFill>
                  <a:srgbClr val="141A19"/>
                </a:solidFill>
                <a:latin typeface="Calibri"/>
              </a:rPr>
              <a:t>Ask answers in English, Hindi and Arabic with a citation on every factual sentence — enforced after generation, not requested in a prompt.</a:t>
            </a:r>
          </a:p>
        </p:txBody>
      </p:sp>
      <p:sp>
        <p:nvSpPr>
          <p:cNvPr id="13" name="Rounded Rectangle 12"/>
          <p:cNvSpPr/>
          <p:nvPr/>
        </p:nvSpPr>
        <p:spPr>
          <a:xfrm>
            <a:off x="6217920" y="4206240"/>
            <a:ext cx="5257800" cy="1783080"/>
          </a:xfrm>
          <a:prstGeom prst="roundRect">
            <a:avLst>
              <a:gd name="adj" fmla="val 6000"/>
            </a:avLst>
          </a:prstGeom>
          <a:solidFill>
            <a:srgbClr val="E6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4407408"/>
            <a:ext cx="4709160" cy="365760"/>
          </a:xfrm>
          <a:prstGeom prst="rect">
            <a:avLst/>
          </a:prstGeom>
          <a:noFill/>
        </p:spPr>
        <p:txBody>
          <a:bodyPr wrap="square" lIns="0" rIns="0" tIns="0" bIns="0" anchor="t">
            <a:spAutoFit/>
          </a:bodyPr>
          <a:lstStyle/>
          <a:p>
            <a:pPr algn="l"/>
            <a:r>
              <a:rPr sz="2000" b="1" i="0">
                <a:solidFill>
                  <a:srgbClr val="1F7A70"/>
                </a:solidFill>
                <a:latin typeface="Cambria"/>
              </a:rPr>
              <a:t>Audits</a:t>
            </a:r>
          </a:p>
        </p:txBody>
      </p:sp>
      <p:sp>
        <p:nvSpPr>
          <p:cNvPr id="15" name="TextBox 14"/>
          <p:cNvSpPr txBox="1"/>
          <p:nvPr/>
        </p:nvSpPr>
        <p:spPr>
          <a:xfrm>
            <a:off x="6492240" y="4864608"/>
            <a:ext cx="4709160" cy="1005840"/>
          </a:xfrm>
          <a:prstGeom prst="rect">
            <a:avLst/>
          </a:prstGeom>
          <a:noFill/>
        </p:spPr>
        <p:txBody>
          <a:bodyPr wrap="square" lIns="0" rIns="0" tIns="0" bIns="0" anchor="t">
            <a:spAutoFit/>
          </a:bodyPr>
          <a:lstStyle/>
          <a:p>
            <a:pPr algn="l"/>
            <a:r>
              <a:rPr sz="1250" b="0" i="0">
                <a:solidFill>
                  <a:srgbClr val="141A19"/>
                </a:solidFill>
                <a:latin typeface="Calibri"/>
              </a:rPr>
              <a:t>A crew of agents writes a memo an auditor has already checked. No tool in the system can transact.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66928"/>
            <a:ext cx="10820095" cy="914400"/>
          </a:xfrm>
          <a:prstGeom prst="rect">
            <a:avLst/>
          </a:prstGeom>
          <a:noFill/>
        </p:spPr>
        <p:txBody>
          <a:bodyPr wrap="square" lIns="0" rIns="0" tIns="0" bIns="0" anchor="t">
            <a:spAutoFit/>
          </a:bodyPr>
          <a:lstStyle/>
          <a:p>
            <a:pPr algn="l"/>
            <a:r>
              <a:rPr sz="3800" b="1" i="0">
                <a:solidFill>
                  <a:srgbClr val="141A19"/>
                </a:solidFill>
                <a:latin typeface="Cambria"/>
              </a:rPr>
              <a:t>How it fits together</a:t>
            </a:r>
          </a:p>
        </p:txBody>
      </p:sp>
      <p:sp>
        <p:nvSpPr>
          <p:cNvPr id="3" name="TextBox 2"/>
          <p:cNvSpPr txBox="1"/>
          <p:nvPr/>
        </p:nvSpPr>
        <p:spPr>
          <a:xfrm>
            <a:off x="685800" y="1389888"/>
            <a:ext cx="10820095" cy="457200"/>
          </a:xfrm>
          <a:prstGeom prst="rect">
            <a:avLst/>
          </a:prstGeom>
          <a:noFill/>
        </p:spPr>
        <p:txBody>
          <a:bodyPr wrap="square" lIns="0" rIns="0" tIns="0" bIns="0" anchor="t">
            <a:spAutoFit/>
          </a:bodyPr>
          <a:lstStyle/>
          <a:p>
            <a:pPr algn="l"/>
            <a:r>
              <a:rPr sz="1400" b="0" i="1">
                <a:solidFill>
                  <a:srgbClr val="5F6B68"/>
                </a:solidFill>
                <a:latin typeface="Calibri"/>
              </a:rPr>
              <a:t>Registry to warehouse to model to cited answer</a:t>
            </a:r>
          </a:p>
        </p:txBody>
      </p:sp>
      <p:sp>
        <p:nvSpPr>
          <p:cNvPr id="4" name="Rounded Rectangle 3"/>
          <p:cNvSpPr/>
          <p:nvPr/>
        </p:nvSpPr>
        <p:spPr>
          <a:xfrm>
            <a:off x="685800" y="2286000"/>
            <a:ext cx="2084831" cy="1554480"/>
          </a:xfrm>
          <a:prstGeom prst="roundRect">
            <a:avLst>
              <a:gd name="adj" fmla="val 6000"/>
            </a:avLst>
          </a:prstGeom>
          <a:solidFill>
            <a:srgbClr val="E6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32104" y="2450592"/>
            <a:ext cx="1792223" cy="365760"/>
          </a:xfrm>
          <a:prstGeom prst="rect">
            <a:avLst/>
          </a:prstGeom>
          <a:noFill/>
        </p:spPr>
        <p:txBody>
          <a:bodyPr wrap="square" lIns="0" rIns="0" tIns="0" bIns="0" anchor="t">
            <a:spAutoFit/>
          </a:bodyPr>
          <a:lstStyle/>
          <a:p>
            <a:pPr algn="ctr"/>
            <a:r>
              <a:rPr sz="1500" b="1" i="0">
                <a:solidFill>
                  <a:srgbClr val="1F7A70"/>
                </a:solidFill>
                <a:latin typeface="Cambria"/>
              </a:rPr>
              <a:t>Ingest</a:t>
            </a:r>
          </a:p>
        </p:txBody>
      </p:sp>
      <p:sp>
        <p:nvSpPr>
          <p:cNvPr id="6" name="TextBox 5"/>
          <p:cNvSpPr txBox="1"/>
          <p:nvPr/>
        </p:nvSpPr>
        <p:spPr>
          <a:xfrm>
            <a:off x="832104" y="2862072"/>
            <a:ext cx="1792223" cy="868680"/>
          </a:xfrm>
          <a:prstGeom prst="rect">
            <a:avLst/>
          </a:prstGeom>
          <a:noFill/>
        </p:spPr>
        <p:txBody>
          <a:bodyPr wrap="square" lIns="0" rIns="0" tIns="0" bIns="0" anchor="t">
            <a:spAutoFit/>
          </a:bodyPr>
          <a:lstStyle/>
          <a:p>
            <a:pPr algn="ctr"/>
            <a:r>
              <a:rPr sz="1050" b="0" i="0">
                <a:solidFill>
                  <a:srgbClr val="5F6B68"/>
                </a:solidFill>
                <a:latin typeface="Calibri"/>
              </a:rPr>
              <a:t>GitHub Actions · probe + download</a:t>
            </a:r>
          </a:p>
        </p:txBody>
      </p:sp>
      <p:sp>
        <p:nvSpPr>
          <p:cNvPr id="7" name="TextBox 6"/>
          <p:cNvSpPr txBox="1"/>
          <p:nvPr/>
        </p:nvSpPr>
        <p:spPr>
          <a:xfrm>
            <a:off x="2770631" y="2761488"/>
            <a:ext cx="384048" cy="365760"/>
          </a:xfrm>
          <a:prstGeom prst="rect">
            <a:avLst/>
          </a:prstGeom>
          <a:noFill/>
        </p:spPr>
        <p:txBody>
          <a:bodyPr wrap="square" lIns="0" rIns="0" tIns="0" bIns="0" anchor="t">
            <a:spAutoFit/>
          </a:bodyPr>
          <a:lstStyle/>
          <a:p>
            <a:pPr algn="ctr"/>
            <a:r>
              <a:rPr sz="1900" b="0" i="0">
                <a:solidFill>
                  <a:srgbClr val="1F7A70"/>
                </a:solidFill>
                <a:latin typeface="Calibri"/>
              </a:rPr>
              <a:t>→</a:t>
            </a:r>
          </a:p>
        </p:txBody>
      </p:sp>
      <p:sp>
        <p:nvSpPr>
          <p:cNvPr id="8" name="Rounded Rectangle 7"/>
          <p:cNvSpPr/>
          <p:nvPr/>
        </p:nvSpPr>
        <p:spPr>
          <a:xfrm>
            <a:off x="2898648" y="2286000"/>
            <a:ext cx="2084831" cy="1554480"/>
          </a:xfrm>
          <a:prstGeom prst="roundRect">
            <a:avLst>
              <a:gd name="adj" fmla="val 6000"/>
            </a:avLst>
          </a:prstGeom>
          <a:solidFill>
            <a:srgbClr val="E6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044952" y="2450592"/>
            <a:ext cx="1792223" cy="365760"/>
          </a:xfrm>
          <a:prstGeom prst="rect">
            <a:avLst/>
          </a:prstGeom>
          <a:noFill/>
        </p:spPr>
        <p:txBody>
          <a:bodyPr wrap="square" lIns="0" rIns="0" tIns="0" bIns="0" anchor="t">
            <a:spAutoFit/>
          </a:bodyPr>
          <a:lstStyle/>
          <a:p>
            <a:pPr algn="ctr"/>
            <a:r>
              <a:rPr sz="1500" b="1" i="0">
                <a:solidFill>
                  <a:srgbClr val="1F7A70"/>
                </a:solidFill>
                <a:latin typeface="Cambria"/>
              </a:rPr>
              <a:t>Warehouse</a:t>
            </a:r>
          </a:p>
        </p:txBody>
      </p:sp>
      <p:sp>
        <p:nvSpPr>
          <p:cNvPr id="10" name="TextBox 9"/>
          <p:cNvSpPr txBox="1"/>
          <p:nvPr/>
        </p:nvSpPr>
        <p:spPr>
          <a:xfrm>
            <a:off x="3044952" y="2862072"/>
            <a:ext cx="1792223" cy="868680"/>
          </a:xfrm>
          <a:prstGeom prst="rect">
            <a:avLst/>
          </a:prstGeom>
          <a:noFill/>
        </p:spPr>
        <p:txBody>
          <a:bodyPr wrap="square" lIns="0" rIns="0" tIns="0" bIns="0" anchor="t">
            <a:spAutoFit/>
          </a:bodyPr>
          <a:lstStyle/>
          <a:p>
            <a:pPr algn="ctr"/>
            <a:r>
              <a:rPr sz="1050" b="0" i="0">
                <a:solidFill>
                  <a:srgbClr val="5F6B68"/>
                </a:solidFill>
                <a:latin typeface="Calibri"/>
              </a:rPr>
              <a:t>DuckDB · every KPI carries its SQL</a:t>
            </a:r>
          </a:p>
        </p:txBody>
      </p:sp>
      <p:sp>
        <p:nvSpPr>
          <p:cNvPr id="11" name="TextBox 10"/>
          <p:cNvSpPr txBox="1"/>
          <p:nvPr/>
        </p:nvSpPr>
        <p:spPr>
          <a:xfrm>
            <a:off x="4983479" y="2761488"/>
            <a:ext cx="384048" cy="365760"/>
          </a:xfrm>
          <a:prstGeom prst="rect">
            <a:avLst/>
          </a:prstGeom>
          <a:noFill/>
        </p:spPr>
        <p:txBody>
          <a:bodyPr wrap="square" lIns="0" rIns="0" tIns="0" bIns="0" anchor="t">
            <a:spAutoFit/>
          </a:bodyPr>
          <a:lstStyle/>
          <a:p>
            <a:pPr algn="ctr"/>
            <a:r>
              <a:rPr sz="1900" b="0" i="0">
                <a:solidFill>
                  <a:srgbClr val="1F7A70"/>
                </a:solidFill>
                <a:latin typeface="Calibri"/>
              </a:rPr>
              <a:t>→</a:t>
            </a:r>
          </a:p>
        </p:txBody>
      </p:sp>
      <p:sp>
        <p:nvSpPr>
          <p:cNvPr id="12" name="Rounded Rectangle 11"/>
          <p:cNvSpPr/>
          <p:nvPr/>
        </p:nvSpPr>
        <p:spPr>
          <a:xfrm>
            <a:off x="5111496" y="2286000"/>
            <a:ext cx="2084831" cy="1554480"/>
          </a:xfrm>
          <a:prstGeom prst="roundRect">
            <a:avLst>
              <a:gd name="adj" fmla="val 6000"/>
            </a:avLst>
          </a:prstGeom>
          <a:solidFill>
            <a:srgbClr val="E6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57800" y="2450592"/>
            <a:ext cx="1792223" cy="365760"/>
          </a:xfrm>
          <a:prstGeom prst="rect">
            <a:avLst/>
          </a:prstGeom>
          <a:noFill/>
        </p:spPr>
        <p:txBody>
          <a:bodyPr wrap="square" lIns="0" rIns="0" tIns="0" bIns="0" anchor="t">
            <a:spAutoFit/>
          </a:bodyPr>
          <a:lstStyle/>
          <a:p>
            <a:pPr algn="ctr"/>
            <a:r>
              <a:rPr sz="1500" b="1" i="0">
                <a:solidFill>
                  <a:srgbClr val="1F7A70"/>
                </a:solidFill>
                <a:latin typeface="Cambria"/>
              </a:rPr>
              <a:t>Models</a:t>
            </a:r>
          </a:p>
        </p:txBody>
      </p:sp>
      <p:sp>
        <p:nvSpPr>
          <p:cNvPr id="14" name="TextBox 13"/>
          <p:cNvSpPr txBox="1"/>
          <p:nvPr/>
        </p:nvSpPr>
        <p:spPr>
          <a:xfrm>
            <a:off x="5257800" y="2862072"/>
            <a:ext cx="1792223" cy="868680"/>
          </a:xfrm>
          <a:prstGeom prst="rect">
            <a:avLst/>
          </a:prstGeom>
          <a:noFill/>
        </p:spPr>
        <p:txBody>
          <a:bodyPr wrap="square" lIns="0" rIns="0" tIns="0" bIns="0" anchor="t">
            <a:spAutoFit/>
          </a:bodyPr>
          <a:lstStyle/>
          <a:p>
            <a:pPr algn="ctr"/>
            <a:r>
              <a:rPr sz="1050" b="0" i="0">
                <a:solidFill>
                  <a:srgbClr val="5F6B68"/>
                </a:solidFill>
                <a:latin typeface="Calibri"/>
              </a:rPr>
              <a:t>valuation · yield · index · risk · forecast</a:t>
            </a:r>
          </a:p>
        </p:txBody>
      </p:sp>
      <p:sp>
        <p:nvSpPr>
          <p:cNvPr id="15" name="TextBox 14"/>
          <p:cNvSpPr txBox="1"/>
          <p:nvPr/>
        </p:nvSpPr>
        <p:spPr>
          <a:xfrm>
            <a:off x="7196327" y="2761488"/>
            <a:ext cx="384048" cy="365760"/>
          </a:xfrm>
          <a:prstGeom prst="rect">
            <a:avLst/>
          </a:prstGeom>
          <a:noFill/>
        </p:spPr>
        <p:txBody>
          <a:bodyPr wrap="square" lIns="0" rIns="0" tIns="0" bIns="0" anchor="t">
            <a:spAutoFit/>
          </a:bodyPr>
          <a:lstStyle/>
          <a:p>
            <a:pPr algn="ctr"/>
            <a:r>
              <a:rPr sz="1900" b="0" i="0">
                <a:solidFill>
                  <a:srgbClr val="1F7A70"/>
                </a:solidFill>
                <a:latin typeface="Calibri"/>
              </a:rPr>
              <a:t>→</a:t>
            </a:r>
          </a:p>
        </p:txBody>
      </p:sp>
      <p:sp>
        <p:nvSpPr>
          <p:cNvPr id="16" name="Rounded Rectangle 15"/>
          <p:cNvSpPr/>
          <p:nvPr/>
        </p:nvSpPr>
        <p:spPr>
          <a:xfrm>
            <a:off x="7324344" y="2286000"/>
            <a:ext cx="2084831" cy="1554480"/>
          </a:xfrm>
          <a:prstGeom prst="roundRect">
            <a:avLst>
              <a:gd name="adj" fmla="val 6000"/>
            </a:avLst>
          </a:prstGeom>
          <a:solidFill>
            <a:srgbClr val="E6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70648" y="2450592"/>
            <a:ext cx="1792223" cy="365760"/>
          </a:xfrm>
          <a:prstGeom prst="rect">
            <a:avLst/>
          </a:prstGeom>
          <a:noFill/>
        </p:spPr>
        <p:txBody>
          <a:bodyPr wrap="square" lIns="0" rIns="0" tIns="0" bIns="0" anchor="t">
            <a:spAutoFit/>
          </a:bodyPr>
          <a:lstStyle/>
          <a:p>
            <a:pPr algn="ctr"/>
            <a:r>
              <a:rPr sz="1500" b="1" i="0">
                <a:solidFill>
                  <a:srgbClr val="1F7A70"/>
                </a:solidFill>
                <a:latin typeface="Cambria"/>
              </a:rPr>
              <a:t>API</a:t>
            </a:r>
          </a:p>
        </p:txBody>
      </p:sp>
      <p:sp>
        <p:nvSpPr>
          <p:cNvPr id="18" name="TextBox 17"/>
          <p:cNvSpPr txBox="1"/>
          <p:nvPr/>
        </p:nvSpPr>
        <p:spPr>
          <a:xfrm>
            <a:off x="7470648" y="2862072"/>
            <a:ext cx="1792223" cy="868680"/>
          </a:xfrm>
          <a:prstGeom prst="rect">
            <a:avLst/>
          </a:prstGeom>
          <a:noFill/>
        </p:spPr>
        <p:txBody>
          <a:bodyPr wrap="square" lIns="0" rIns="0" tIns="0" bIns="0" anchor="t">
            <a:spAutoFit/>
          </a:bodyPr>
          <a:lstStyle/>
          <a:p>
            <a:pPr algn="ctr"/>
            <a:r>
              <a:rPr sz="1050" b="0" i="0">
                <a:solidFill>
                  <a:srgbClr val="5F6B68"/>
                </a:solidFill>
                <a:latin typeface="Calibri"/>
              </a:rPr>
              <a:t>FastAPI on Render · typed KPI objects</a:t>
            </a:r>
          </a:p>
        </p:txBody>
      </p:sp>
      <p:sp>
        <p:nvSpPr>
          <p:cNvPr id="19" name="TextBox 18"/>
          <p:cNvSpPr txBox="1"/>
          <p:nvPr/>
        </p:nvSpPr>
        <p:spPr>
          <a:xfrm>
            <a:off x="9409175" y="2761488"/>
            <a:ext cx="384048" cy="365760"/>
          </a:xfrm>
          <a:prstGeom prst="rect">
            <a:avLst/>
          </a:prstGeom>
          <a:noFill/>
        </p:spPr>
        <p:txBody>
          <a:bodyPr wrap="square" lIns="0" rIns="0" tIns="0" bIns="0" anchor="t">
            <a:spAutoFit/>
          </a:bodyPr>
          <a:lstStyle/>
          <a:p>
            <a:pPr algn="ctr"/>
            <a:r>
              <a:rPr sz="1900" b="0" i="0">
                <a:solidFill>
                  <a:srgbClr val="1F7A70"/>
                </a:solidFill>
                <a:latin typeface="Calibri"/>
              </a:rPr>
              <a:t>→</a:t>
            </a:r>
          </a:p>
        </p:txBody>
      </p:sp>
      <p:sp>
        <p:nvSpPr>
          <p:cNvPr id="20" name="Rounded Rectangle 19"/>
          <p:cNvSpPr/>
          <p:nvPr/>
        </p:nvSpPr>
        <p:spPr>
          <a:xfrm>
            <a:off x="9537192" y="2286000"/>
            <a:ext cx="2084831" cy="1554480"/>
          </a:xfrm>
          <a:prstGeom prst="roundRect">
            <a:avLst>
              <a:gd name="adj" fmla="val 6000"/>
            </a:avLst>
          </a:prstGeom>
          <a:solidFill>
            <a:srgbClr val="E6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83496" y="2450592"/>
            <a:ext cx="1792223" cy="365760"/>
          </a:xfrm>
          <a:prstGeom prst="rect">
            <a:avLst/>
          </a:prstGeom>
          <a:noFill/>
        </p:spPr>
        <p:txBody>
          <a:bodyPr wrap="square" lIns="0" rIns="0" tIns="0" bIns="0" anchor="t">
            <a:spAutoFit/>
          </a:bodyPr>
          <a:lstStyle/>
          <a:p>
            <a:pPr algn="ctr"/>
            <a:r>
              <a:rPr sz="1500" b="1" i="0">
                <a:solidFill>
                  <a:srgbClr val="1F7A70"/>
                </a:solidFill>
                <a:latin typeface="Cambria"/>
              </a:rPr>
              <a:t>Interface</a:t>
            </a:r>
          </a:p>
        </p:txBody>
      </p:sp>
      <p:sp>
        <p:nvSpPr>
          <p:cNvPr id="22" name="TextBox 21"/>
          <p:cNvSpPr txBox="1"/>
          <p:nvPr/>
        </p:nvSpPr>
        <p:spPr>
          <a:xfrm>
            <a:off x="9683496" y="2862072"/>
            <a:ext cx="1792223" cy="868680"/>
          </a:xfrm>
          <a:prstGeom prst="rect">
            <a:avLst/>
          </a:prstGeom>
          <a:noFill/>
        </p:spPr>
        <p:txBody>
          <a:bodyPr wrap="square" lIns="0" rIns="0" tIns="0" bIns="0" anchor="t">
            <a:spAutoFit/>
          </a:bodyPr>
          <a:lstStyle/>
          <a:p>
            <a:pPr algn="ctr"/>
            <a:r>
              <a:rPr sz="1050" b="0" i="0">
                <a:solidFill>
                  <a:srgbClr val="5F6B68"/>
                </a:solidFill>
                <a:latin typeface="Calibri"/>
              </a:rPr>
              <a:t>Next.js on Vercel · 20 routes, 3 languages</a:t>
            </a:r>
          </a:p>
        </p:txBody>
      </p:sp>
      <p:sp>
        <p:nvSpPr>
          <p:cNvPr id="23" name="Rounded Rectangle 22"/>
          <p:cNvSpPr/>
          <p:nvPr/>
        </p:nvSpPr>
        <p:spPr>
          <a:xfrm>
            <a:off x="685800" y="4160520"/>
            <a:ext cx="10820095" cy="1417320"/>
          </a:xfrm>
          <a:prstGeom prst="roundRect">
            <a:avLst>
              <a:gd name="adj" fmla="val 6000"/>
            </a:avLst>
          </a:prstGeom>
          <a:solidFill>
            <a:srgbClr val="E6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5840" y="4370832"/>
            <a:ext cx="10180015" cy="1005840"/>
          </a:xfrm>
          <a:prstGeom prst="rect">
            <a:avLst/>
          </a:prstGeom>
          <a:noFill/>
        </p:spPr>
        <p:txBody>
          <a:bodyPr wrap="square" lIns="0" rIns="0" tIns="0" bIns="0" anchor="t">
            <a:spAutoFit/>
          </a:bodyPr>
          <a:lstStyle/>
          <a:p>
            <a:pPr algn="l"/>
            <a:r>
              <a:rPr sz="1300" b="0" i="0">
                <a:solidFill>
                  <a:srgbClr val="141A19"/>
                </a:solidFill>
                <a:latin typeface="Calibri"/>
              </a:rPr>
              <a:t>Postgres holds application state only. The analytics stay in DuckDB because 1.5 million transactions plus indexes do not fit a 500 MB free tier — and because querying DuckDB directly is what lets every number carry the literal SQL that produced 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66928"/>
            <a:ext cx="10820095" cy="914400"/>
          </a:xfrm>
          <a:prstGeom prst="rect">
            <a:avLst/>
          </a:prstGeom>
          <a:noFill/>
        </p:spPr>
        <p:txBody>
          <a:bodyPr wrap="square" lIns="0" rIns="0" tIns="0" bIns="0" anchor="t">
            <a:spAutoFit/>
          </a:bodyPr>
          <a:lstStyle/>
          <a:p>
            <a:pPr algn="l"/>
            <a:r>
              <a:rPr sz="3800" b="1" i="0">
                <a:solidFill>
                  <a:srgbClr val="141A19"/>
                </a:solidFill>
                <a:latin typeface="Cambria"/>
              </a:rPr>
              <a:t>It is live</a:t>
            </a:r>
          </a:p>
        </p:txBody>
      </p:sp>
      <p:sp>
        <p:nvSpPr>
          <p:cNvPr id="3" name="TextBox 2"/>
          <p:cNvSpPr txBox="1"/>
          <p:nvPr/>
        </p:nvSpPr>
        <p:spPr>
          <a:xfrm>
            <a:off x="685800" y="1389888"/>
            <a:ext cx="10820095" cy="457200"/>
          </a:xfrm>
          <a:prstGeom prst="rect">
            <a:avLst/>
          </a:prstGeom>
          <a:noFill/>
        </p:spPr>
        <p:txBody>
          <a:bodyPr wrap="square" lIns="0" rIns="0" tIns="0" bIns="0" anchor="t">
            <a:spAutoFit/>
          </a:bodyPr>
          <a:lstStyle/>
          <a:p>
            <a:pPr algn="l"/>
            <a:r>
              <a:rPr sz="1400" b="0" i="1">
                <a:solidFill>
                  <a:srgbClr val="5F6B68"/>
                </a:solidFill>
                <a:latin typeface="Calibri"/>
              </a:rPr>
              <a:t>Not a prototype and not a recording</a:t>
            </a:r>
          </a:p>
        </p:txBody>
      </p:sp>
      <p:sp>
        <p:nvSpPr>
          <p:cNvPr id="4" name="Rounded Rectangle 3"/>
          <p:cNvSpPr/>
          <p:nvPr/>
        </p:nvSpPr>
        <p:spPr>
          <a:xfrm>
            <a:off x="685800" y="2148840"/>
            <a:ext cx="5577840" cy="3200400"/>
          </a:xfrm>
          <a:prstGeom prst="roundRect">
            <a:avLst>
              <a:gd name="adj" fmla="val 6000"/>
            </a:avLst>
          </a:prstGeom>
          <a:solidFill>
            <a:srgbClr val="E6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2395728"/>
            <a:ext cx="4937760" cy="365760"/>
          </a:xfrm>
          <a:prstGeom prst="rect">
            <a:avLst/>
          </a:prstGeom>
          <a:noFill/>
        </p:spPr>
        <p:txBody>
          <a:bodyPr wrap="square" lIns="0" rIns="0" tIns="0" bIns="0" anchor="t">
            <a:spAutoFit/>
          </a:bodyPr>
          <a:lstStyle/>
          <a:p>
            <a:pPr algn="l"/>
            <a:r>
              <a:rPr sz="1900" b="1" i="0">
                <a:solidFill>
                  <a:srgbClr val="1F7A70"/>
                </a:solidFill>
                <a:latin typeface="Cambria"/>
              </a:rPr>
              <a:t>Open it now</a:t>
            </a:r>
          </a:p>
        </p:txBody>
      </p:sp>
      <p:sp>
        <p:nvSpPr>
          <p:cNvPr id="6" name="TextBox 5"/>
          <p:cNvSpPr txBox="1"/>
          <p:nvPr/>
        </p:nvSpPr>
        <p:spPr>
          <a:xfrm>
            <a:off x="1005840" y="2880360"/>
            <a:ext cx="4937760" cy="2194560"/>
          </a:xfrm>
          <a:prstGeom prst="rect">
            <a:avLst/>
          </a:prstGeom>
          <a:noFill/>
        </p:spPr>
        <p:txBody>
          <a:bodyPr wrap="square" lIns="0" rIns="0">
            <a:spAutoFit/>
          </a:bodyPr>
          <a:lstStyle/>
          <a:p>
            <a:pPr>
              <a:lnSpc>
                <a:spcPct val="120000"/>
              </a:lnSpc>
              <a:spcAft>
                <a:spcPts val="1000"/>
              </a:spcAft>
            </a:pPr>
            <a:r>
              <a:rPr sz="1300">
                <a:solidFill>
                  <a:srgbClr val="141A19"/>
                </a:solidFill>
                <a:latin typeface="Calibri"/>
              </a:rPr>
              <a:t>Web  https://yieldmap.vercel.app</a:t>
            </a:r>
          </a:p>
          <a:p>
            <a:pPr>
              <a:lnSpc>
                <a:spcPct val="120000"/>
              </a:lnSpc>
              <a:spcAft>
                <a:spcPts val="1000"/>
              </a:spcAft>
            </a:pPr>
            <a:r>
              <a:rPr sz="1300">
                <a:solidFill>
                  <a:srgbClr val="141A19"/>
                </a:solidFill>
                <a:latin typeface="Calibri"/>
              </a:rPr>
              <a:t>API  https://yieldmap-api.onrender.com/health</a:t>
            </a:r>
          </a:p>
          <a:p>
            <a:pPr>
              <a:lnSpc>
                <a:spcPct val="120000"/>
              </a:lnSpc>
              <a:spcAft>
                <a:spcPts val="1000"/>
              </a:spcAft>
            </a:pPr>
            <a:r>
              <a:rPr sz="1300">
                <a:solidFill>
                  <a:srgbClr val="141A19"/>
                </a:solidFill>
                <a:latin typeface="Calibri"/>
              </a:rPr>
              <a:t>Health reports which database is loaded, whether authentication is configured, and which model tier is answering.</a:t>
            </a:r>
          </a:p>
        </p:txBody>
      </p:sp>
      <p:sp>
        <p:nvSpPr>
          <p:cNvPr id="7" name="TextBox 6"/>
          <p:cNvSpPr txBox="1"/>
          <p:nvPr/>
        </p:nvSpPr>
        <p:spPr>
          <a:xfrm>
            <a:off x="6720840" y="2194560"/>
            <a:ext cx="4800600" cy="365760"/>
          </a:xfrm>
          <a:prstGeom prst="rect">
            <a:avLst/>
          </a:prstGeom>
          <a:noFill/>
        </p:spPr>
        <p:txBody>
          <a:bodyPr wrap="square" lIns="0" rIns="0" tIns="0" bIns="0" anchor="t">
            <a:spAutoFit/>
          </a:bodyPr>
          <a:lstStyle/>
          <a:p>
            <a:pPr algn="l"/>
            <a:r>
              <a:rPr sz="1900" b="1" i="0">
                <a:solidFill>
                  <a:srgbClr val="1F7A70"/>
                </a:solidFill>
                <a:latin typeface="Cambria"/>
              </a:rPr>
              <a:t>The three-minute route</a:t>
            </a:r>
          </a:p>
        </p:txBody>
      </p:sp>
      <p:sp>
        <p:nvSpPr>
          <p:cNvPr id="8" name="TextBox 7"/>
          <p:cNvSpPr txBox="1"/>
          <p:nvPr/>
        </p:nvSpPr>
        <p:spPr>
          <a:xfrm>
            <a:off x="6720840" y="2697480"/>
            <a:ext cx="4800600" cy="2651760"/>
          </a:xfrm>
          <a:prstGeom prst="rect">
            <a:avLst/>
          </a:prstGeom>
          <a:noFill/>
        </p:spPr>
        <p:txBody>
          <a:bodyPr wrap="square" lIns="0" rIns="0">
            <a:spAutoFit/>
          </a:bodyPr>
          <a:lstStyle/>
          <a:p>
            <a:pPr>
              <a:lnSpc>
                <a:spcPct val="120000"/>
              </a:lnSpc>
              <a:spcAft>
                <a:spcPts val="1000"/>
              </a:spcAft>
            </a:pPr>
            <a:r>
              <a:rPr sz="1300">
                <a:solidFill>
                  <a:srgbClr val="141A19"/>
                </a:solidFill>
                <a:latin typeface="Calibri"/>
              </a:rPr>
              <a:t>1.  City — pick a community, open a KPI tile, show the SQL behind the number.</a:t>
            </a:r>
          </a:p>
          <a:p>
            <a:pPr>
              <a:lnSpc>
                <a:spcPct val="120000"/>
              </a:lnSpc>
              <a:spcAft>
                <a:spcPts val="1000"/>
              </a:spcAft>
            </a:pPr>
            <a:r>
              <a:rPr sz="1300">
                <a:solidFill>
                  <a:srgbClr val="141A19"/>
                </a:solidFill>
                <a:latin typeface="Calibri"/>
              </a:rPr>
              <a:t>2.  Yield — change a service-charge assumption and watch net move.</a:t>
            </a:r>
          </a:p>
          <a:p>
            <a:pPr>
              <a:lnSpc>
                <a:spcPct val="120000"/>
              </a:lnSpc>
              <a:spcAft>
                <a:spcPts val="1000"/>
              </a:spcAft>
            </a:pPr>
            <a:r>
              <a:rPr sz="1300">
                <a:solidFill>
                  <a:srgbClr val="141A19"/>
                </a:solidFill>
                <a:latin typeface="Calibri"/>
              </a:rPr>
              <a:t>3.  Ask — a question in Arabic, with citations, right to left.</a:t>
            </a:r>
          </a:p>
          <a:p>
            <a:pPr>
              <a:lnSpc>
                <a:spcPct val="120000"/>
              </a:lnSpc>
              <a:spcAft>
                <a:spcPts val="1000"/>
              </a:spcAft>
            </a:pPr>
            <a:r>
              <a:rPr sz="1300">
                <a:solidFill>
                  <a:srgbClr val="141A19"/>
                </a:solidFill>
                <a:latin typeface="Calibri"/>
              </a:rPr>
              <a:t>4.  Crew — run the agents and open the audit trail.</a:t>
            </a:r>
          </a:p>
        </p:txBody>
      </p:sp>
      <p:sp>
        <p:nvSpPr>
          <p:cNvPr id="9" name="TextBox 8"/>
          <p:cNvSpPr txBox="1"/>
          <p:nvPr/>
        </p:nvSpPr>
        <p:spPr>
          <a:xfrm>
            <a:off x="685800" y="6291072"/>
            <a:ext cx="10820095" cy="329184"/>
          </a:xfrm>
          <a:prstGeom prst="rect">
            <a:avLst/>
          </a:prstGeom>
          <a:noFill/>
        </p:spPr>
        <p:txBody>
          <a:bodyPr wrap="square" lIns="0" rIns="0" tIns="0" bIns="0" anchor="t">
            <a:spAutoFit/>
          </a:bodyPr>
          <a:lstStyle/>
          <a:p>
            <a:pPr algn="l"/>
            <a:r>
              <a:rPr sz="950" b="0" i="0">
                <a:solidFill>
                  <a:srgbClr val="5F6B68"/>
                </a:solidFill>
                <a:latin typeface="Calibri"/>
              </a:rPr>
              <a:t>Free tier: the API sleeps after 15 minutes idle, so the first request takes about 50 seconds. Wake it before presenting.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66928"/>
            <a:ext cx="10820095" cy="914400"/>
          </a:xfrm>
          <a:prstGeom prst="rect">
            <a:avLst/>
          </a:prstGeom>
          <a:noFill/>
        </p:spPr>
        <p:txBody>
          <a:bodyPr wrap="square" lIns="0" rIns="0" tIns="0" bIns="0" anchor="t">
            <a:spAutoFit/>
          </a:bodyPr>
          <a:lstStyle/>
          <a:p>
            <a:pPr algn="l"/>
            <a:r>
              <a:rPr sz="3800" b="1" i="0">
                <a:solidFill>
                  <a:srgbClr val="141A19"/>
                </a:solidFill>
                <a:latin typeface="Cambria"/>
              </a:rPr>
              <a:t>What was measured</a:t>
            </a:r>
          </a:p>
        </p:txBody>
      </p:sp>
      <p:sp>
        <p:nvSpPr>
          <p:cNvPr id="3" name="TextBox 2"/>
          <p:cNvSpPr txBox="1"/>
          <p:nvPr/>
        </p:nvSpPr>
        <p:spPr>
          <a:xfrm>
            <a:off x="685800" y="1389888"/>
            <a:ext cx="10820095" cy="457200"/>
          </a:xfrm>
          <a:prstGeom prst="rect">
            <a:avLst/>
          </a:prstGeom>
          <a:noFill/>
        </p:spPr>
        <p:txBody>
          <a:bodyPr wrap="square" lIns="0" rIns="0" tIns="0" bIns="0" anchor="t">
            <a:spAutoFit/>
          </a:bodyPr>
          <a:lstStyle/>
          <a:p>
            <a:pPr algn="l"/>
            <a:r>
              <a:rPr sz="1400" b="0" i="1">
                <a:solidFill>
                  <a:srgbClr val="5F6B68"/>
                </a:solidFill>
                <a:latin typeface="Calibri"/>
              </a:rPr>
              <a:t>Every figure below is read from a file in docs/results/</a:t>
            </a:r>
          </a:p>
        </p:txBody>
      </p:sp>
      <p:sp>
        <p:nvSpPr>
          <p:cNvPr id="4" name="Rounded Rectangle 3"/>
          <p:cNvSpPr/>
          <p:nvPr/>
        </p:nvSpPr>
        <p:spPr>
          <a:xfrm>
            <a:off x="685800" y="2148840"/>
            <a:ext cx="2514600" cy="1874519"/>
          </a:xfrm>
          <a:prstGeom prst="roundRect">
            <a:avLst>
              <a:gd name="adj" fmla="val 6000"/>
            </a:avLst>
          </a:prstGeom>
          <a:solidFill>
            <a:srgbClr val="E6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2395728"/>
            <a:ext cx="2514600" cy="777240"/>
          </a:xfrm>
          <a:prstGeom prst="rect">
            <a:avLst/>
          </a:prstGeom>
          <a:noFill/>
        </p:spPr>
        <p:txBody>
          <a:bodyPr wrap="square" lIns="0" rIns="0" tIns="0" bIns="0" anchor="t">
            <a:spAutoFit/>
          </a:bodyPr>
          <a:lstStyle/>
          <a:p>
            <a:pPr algn="ctr"/>
            <a:r>
              <a:rPr sz="4800" b="1" i="0">
                <a:solidFill>
                  <a:srgbClr val="1F7A70"/>
                </a:solidFill>
                <a:latin typeface="Cambria"/>
              </a:rPr>
              <a:t>84%</a:t>
            </a:r>
          </a:p>
        </p:txBody>
      </p:sp>
      <p:sp>
        <p:nvSpPr>
          <p:cNvPr id="6" name="TextBox 5"/>
          <p:cNvSpPr txBox="1"/>
          <p:nvPr/>
        </p:nvSpPr>
        <p:spPr>
          <a:xfrm>
            <a:off x="685800" y="3145536"/>
            <a:ext cx="2514600" cy="731520"/>
          </a:xfrm>
          <a:prstGeom prst="rect">
            <a:avLst/>
          </a:prstGeom>
          <a:noFill/>
        </p:spPr>
        <p:txBody>
          <a:bodyPr wrap="square" lIns="0" rIns="0" tIns="0" bIns="0" anchor="t">
            <a:spAutoFit/>
          </a:bodyPr>
          <a:lstStyle/>
          <a:p>
            <a:pPr algn="ctr"/>
            <a:r>
              <a:rPr sz="1100" b="0" i="0">
                <a:solidFill>
                  <a:srgbClr val="5F6B68"/>
                </a:solidFill>
                <a:latin typeface="Calibri"/>
              </a:rPr>
              <a:t>Python line coverage · 1,008 tests</a:t>
            </a:r>
          </a:p>
        </p:txBody>
      </p:sp>
      <p:sp>
        <p:nvSpPr>
          <p:cNvPr id="7" name="Rounded Rectangle 6"/>
          <p:cNvSpPr/>
          <p:nvPr/>
        </p:nvSpPr>
        <p:spPr>
          <a:xfrm>
            <a:off x="3429000" y="2148840"/>
            <a:ext cx="2514600" cy="1874519"/>
          </a:xfrm>
          <a:prstGeom prst="roundRect">
            <a:avLst>
              <a:gd name="adj" fmla="val 6000"/>
            </a:avLst>
          </a:prstGeom>
          <a:solidFill>
            <a:srgbClr val="E6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29000" y="2395728"/>
            <a:ext cx="2514600" cy="777240"/>
          </a:xfrm>
          <a:prstGeom prst="rect">
            <a:avLst/>
          </a:prstGeom>
          <a:noFill/>
        </p:spPr>
        <p:txBody>
          <a:bodyPr wrap="square" lIns="0" rIns="0" tIns="0" bIns="0" anchor="t">
            <a:spAutoFit/>
          </a:bodyPr>
          <a:lstStyle/>
          <a:p>
            <a:pPr algn="ctr"/>
            <a:r>
              <a:rPr sz="4800" b="1" i="0">
                <a:solidFill>
                  <a:srgbClr val="1F7A70"/>
                </a:solidFill>
                <a:latin typeface="Cambria"/>
              </a:rPr>
              <a:t>11/11</a:t>
            </a:r>
          </a:p>
        </p:txBody>
      </p:sp>
      <p:sp>
        <p:nvSpPr>
          <p:cNvPr id="9" name="TextBox 8"/>
          <p:cNvSpPr txBox="1"/>
          <p:nvPr/>
        </p:nvSpPr>
        <p:spPr>
          <a:xfrm>
            <a:off x="3429000" y="3145536"/>
            <a:ext cx="2514600" cy="731520"/>
          </a:xfrm>
          <a:prstGeom prst="rect">
            <a:avLst/>
          </a:prstGeom>
          <a:noFill/>
        </p:spPr>
        <p:txBody>
          <a:bodyPr wrap="square" lIns="0" rIns="0" tIns="0" bIns="0" anchor="t">
            <a:spAutoFit/>
          </a:bodyPr>
          <a:lstStyle/>
          <a:p>
            <a:pPr algn="ctr"/>
            <a:r>
              <a:rPr sz="1100" b="0" i="0">
                <a:solidFill>
                  <a:srgbClr val="5F6B68"/>
                </a:solidFill>
                <a:latin typeface="Calibri"/>
              </a:rPr>
              <a:t>OWASP ASI controls held · attacked in CI</a:t>
            </a:r>
          </a:p>
        </p:txBody>
      </p:sp>
      <p:sp>
        <p:nvSpPr>
          <p:cNvPr id="10" name="Rounded Rectangle 9"/>
          <p:cNvSpPr/>
          <p:nvPr/>
        </p:nvSpPr>
        <p:spPr>
          <a:xfrm>
            <a:off x="6172200" y="2148840"/>
            <a:ext cx="2514600" cy="1874519"/>
          </a:xfrm>
          <a:prstGeom prst="roundRect">
            <a:avLst>
              <a:gd name="adj" fmla="val 6000"/>
            </a:avLst>
          </a:prstGeom>
          <a:solidFill>
            <a:srgbClr val="E6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72200" y="2395728"/>
            <a:ext cx="2514600" cy="777240"/>
          </a:xfrm>
          <a:prstGeom prst="rect">
            <a:avLst/>
          </a:prstGeom>
          <a:noFill/>
        </p:spPr>
        <p:txBody>
          <a:bodyPr wrap="square" lIns="0" rIns="0" tIns="0" bIns="0" anchor="t">
            <a:spAutoFit/>
          </a:bodyPr>
          <a:lstStyle/>
          <a:p>
            <a:pPr algn="ctr"/>
            <a:r>
              <a:rPr sz="4800" b="1" i="0">
                <a:solidFill>
                  <a:srgbClr val="1F7A70"/>
                </a:solidFill>
                <a:latin typeface="Cambria"/>
              </a:rPr>
              <a:t>0</a:t>
            </a:r>
          </a:p>
        </p:txBody>
      </p:sp>
      <p:sp>
        <p:nvSpPr>
          <p:cNvPr id="12" name="TextBox 11"/>
          <p:cNvSpPr txBox="1"/>
          <p:nvPr/>
        </p:nvSpPr>
        <p:spPr>
          <a:xfrm>
            <a:off x="6172200" y="3145536"/>
            <a:ext cx="2514600" cy="731520"/>
          </a:xfrm>
          <a:prstGeom prst="rect">
            <a:avLst/>
          </a:prstGeom>
          <a:noFill/>
        </p:spPr>
        <p:txBody>
          <a:bodyPr wrap="square" lIns="0" rIns="0" tIns="0" bIns="0" anchor="t">
            <a:spAutoFit/>
          </a:bodyPr>
          <a:lstStyle/>
          <a:p>
            <a:pPr algn="ctr"/>
            <a:r>
              <a:rPr sz="1100" b="0" i="0">
                <a:solidFill>
                  <a:srgbClr val="5F6B68"/>
                </a:solidFill>
                <a:latin typeface="Calibri"/>
              </a:rPr>
              <a:t>accessibility violations · WCAG 2.1 AA, 7 pages</a:t>
            </a:r>
          </a:p>
        </p:txBody>
      </p:sp>
      <p:sp>
        <p:nvSpPr>
          <p:cNvPr id="13" name="Rounded Rectangle 12"/>
          <p:cNvSpPr/>
          <p:nvPr/>
        </p:nvSpPr>
        <p:spPr>
          <a:xfrm>
            <a:off x="8915400" y="2148840"/>
            <a:ext cx="2514600" cy="1874519"/>
          </a:xfrm>
          <a:prstGeom prst="roundRect">
            <a:avLst>
              <a:gd name="adj" fmla="val 6000"/>
            </a:avLst>
          </a:prstGeom>
          <a:solidFill>
            <a:srgbClr val="E6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5400" y="2395728"/>
            <a:ext cx="2514600" cy="777240"/>
          </a:xfrm>
          <a:prstGeom prst="rect">
            <a:avLst/>
          </a:prstGeom>
          <a:noFill/>
        </p:spPr>
        <p:txBody>
          <a:bodyPr wrap="square" lIns="0" rIns="0" tIns="0" bIns="0" anchor="t">
            <a:spAutoFit/>
          </a:bodyPr>
          <a:lstStyle/>
          <a:p>
            <a:pPr algn="ctr"/>
            <a:r>
              <a:rPr sz="4800" b="1" i="0">
                <a:solidFill>
                  <a:srgbClr val="1F7A70"/>
                </a:solidFill>
                <a:latin typeface="Cambria"/>
              </a:rPr>
              <a:t>$0</a:t>
            </a:r>
          </a:p>
        </p:txBody>
      </p:sp>
      <p:sp>
        <p:nvSpPr>
          <p:cNvPr id="15" name="TextBox 14"/>
          <p:cNvSpPr txBox="1"/>
          <p:nvPr/>
        </p:nvSpPr>
        <p:spPr>
          <a:xfrm>
            <a:off x="8915400" y="3145536"/>
            <a:ext cx="2514600" cy="731520"/>
          </a:xfrm>
          <a:prstGeom prst="rect">
            <a:avLst/>
          </a:prstGeom>
          <a:noFill/>
        </p:spPr>
        <p:txBody>
          <a:bodyPr wrap="square" lIns="0" rIns="0" tIns="0" bIns="0" anchor="t">
            <a:spAutoFit/>
          </a:bodyPr>
          <a:lstStyle/>
          <a:p>
            <a:pPr algn="ctr"/>
            <a:r>
              <a:rPr sz="1100" b="0" i="0">
                <a:solidFill>
                  <a:srgbClr val="5F6B68"/>
                </a:solidFill>
                <a:latin typeface="Calibri"/>
              </a:rPr>
              <a:t>per month · free tiers only</a:t>
            </a:r>
          </a:p>
        </p:txBody>
      </p:sp>
      <p:sp>
        <p:nvSpPr>
          <p:cNvPr id="16" name="TextBox 15"/>
          <p:cNvSpPr txBox="1"/>
          <p:nvPr/>
        </p:nvSpPr>
        <p:spPr>
          <a:xfrm>
            <a:off x="685800" y="4315968"/>
            <a:ext cx="10820095" cy="384048"/>
          </a:xfrm>
          <a:prstGeom prst="rect">
            <a:avLst/>
          </a:prstGeom>
          <a:noFill/>
        </p:spPr>
        <p:txBody>
          <a:bodyPr wrap="square" lIns="0" rIns="0" tIns="0" bIns="0" anchor="t">
            <a:spAutoFit/>
          </a:bodyPr>
          <a:lstStyle/>
          <a:p>
            <a:pPr algn="l"/>
            <a:r>
              <a:rPr sz="1700" b="1" i="0">
                <a:solidFill>
                  <a:srgbClr val="141A19"/>
                </a:solidFill>
                <a:latin typeface="Cambria"/>
              </a:rPr>
              <a:t>And the ones that took work to earn</a:t>
            </a:r>
          </a:p>
        </p:txBody>
      </p:sp>
      <p:sp>
        <p:nvSpPr>
          <p:cNvPr id="17" name="TextBox 16"/>
          <p:cNvSpPr txBox="1"/>
          <p:nvPr/>
        </p:nvSpPr>
        <p:spPr>
          <a:xfrm>
            <a:off x="685800" y="4773168"/>
            <a:ext cx="10820095" cy="1371600"/>
          </a:xfrm>
          <a:prstGeom prst="rect">
            <a:avLst/>
          </a:prstGeom>
          <a:noFill/>
        </p:spPr>
        <p:txBody>
          <a:bodyPr wrap="square" lIns="0" rIns="0">
            <a:spAutoFit/>
          </a:bodyPr>
          <a:lstStyle/>
          <a:p>
            <a:pPr>
              <a:lnSpc>
                <a:spcPct val="120000"/>
              </a:lnSpc>
              <a:spcAft>
                <a:spcPts val="1000"/>
              </a:spcAft>
            </a:pPr>
            <a:r>
              <a:rPr sz="1300">
                <a:solidFill>
                  <a:srgbClr val="5F6B68"/>
                </a:solidFill>
                <a:latin typeface="Calibri"/>
              </a:rPr>
              <a:t>Accessibility went from 7 serious violations to 0 — the first measurement was wrong, because the test ran while an entrance animation was still fading.</a:t>
            </a:r>
          </a:p>
          <a:p>
            <a:pPr>
              <a:lnSpc>
                <a:spcPct val="120000"/>
              </a:lnSpc>
              <a:spcAft>
                <a:spcPts val="1000"/>
              </a:spcAft>
            </a:pPr>
            <a:r>
              <a:rPr sz="1300">
                <a:solidFill>
                  <a:srgbClr val="5F6B68"/>
                </a:solidFill>
                <a:latin typeface="Calibri"/>
              </a:rPr>
              <a:t>Page weight is gated at 340 KB and three.js loads on none of the twenty routes that do not draw a map.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66928"/>
            <a:ext cx="10820095" cy="914400"/>
          </a:xfrm>
          <a:prstGeom prst="rect">
            <a:avLst/>
          </a:prstGeom>
          <a:noFill/>
        </p:spPr>
        <p:txBody>
          <a:bodyPr wrap="square" lIns="0" rIns="0" tIns="0" bIns="0" anchor="t">
            <a:spAutoFit/>
          </a:bodyPr>
          <a:lstStyle/>
          <a:p>
            <a:pPr algn="l"/>
            <a:r>
              <a:rPr sz="3800" b="1" i="0">
                <a:solidFill>
                  <a:srgbClr val="141A19"/>
                </a:solidFill>
                <a:latin typeface="Cambria"/>
              </a:rPr>
              <a:t>Do the models work?</a:t>
            </a:r>
          </a:p>
        </p:txBody>
      </p:sp>
      <p:sp>
        <p:nvSpPr>
          <p:cNvPr id="3" name="TextBox 2"/>
          <p:cNvSpPr txBox="1"/>
          <p:nvPr/>
        </p:nvSpPr>
        <p:spPr>
          <a:xfrm>
            <a:off x="685800" y="1389888"/>
            <a:ext cx="10820095" cy="457200"/>
          </a:xfrm>
          <a:prstGeom prst="rect">
            <a:avLst/>
          </a:prstGeom>
          <a:noFill/>
        </p:spPr>
        <p:txBody>
          <a:bodyPr wrap="square" lIns="0" rIns="0" tIns="0" bIns="0" anchor="t">
            <a:spAutoFit/>
          </a:bodyPr>
          <a:lstStyle/>
          <a:p>
            <a:pPr algn="l"/>
            <a:r>
              <a:rPr sz="1400" b="0" i="1">
                <a:solidFill>
                  <a:srgbClr val="5F6B68"/>
                </a:solidFill>
                <a:latin typeface="Calibri"/>
              </a:rPr>
              <a:t>Scored against the benchmark a buyer would otherwise use</a:t>
            </a:r>
          </a:p>
        </p:txBody>
      </p:sp>
      <p:sp>
        <p:nvSpPr>
          <p:cNvPr id="4" name="Rounded Rectangle 3"/>
          <p:cNvSpPr/>
          <p:nvPr/>
        </p:nvSpPr>
        <p:spPr>
          <a:xfrm>
            <a:off x="685800" y="2148840"/>
            <a:ext cx="2103120" cy="1783080"/>
          </a:xfrm>
          <a:prstGeom prst="roundRect">
            <a:avLst>
              <a:gd name="adj" fmla="val 6000"/>
            </a:avLst>
          </a:prstGeom>
          <a:solidFill>
            <a:srgbClr val="E6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2377440"/>
            <a:ext cx="2103120" cy="777240"/>
          </a:xfrm>
          <a:prstGeom prst="rect">
            <a:avLst/>
          </a:prstGeom>
          <a:noFill/>
        </p:spPr>
        <p:txBody>
          <a:bodyPr wrap="square" lIns="0" rIns="0" tIns="0" bIns="0" anchor="t">
            <a:spAutoFit/>
          </a:bodyPr>
          <a:lstStyle/>
          <a:p>
            <a:pPr algn="ctr"/>
            <a:r>
              <a:rPr sz="3400" b="1" i="0">
                <a:solidFill>
                  <a:srgbClr val="1F7A70"/>
                </a:solidFill>
                <a:latin typeface="Cambria"/>
              </a:rPr>
              <a:t>18.9%</a:t>
            </a:r>
          </a:p>
        </p:txBody>
      </p:sp>
      <p:sp>
        <p:nvSpPr>
          <p:cNvPr id="6" name="TextBox 5"/>
          <p:cNvSpPr txBox="1"/>
          <p:nvPr/>
        </p:nvSpPr>
        <p:spPr>
          <a:xfrm>
            <a:off x="685800" y="3127248"/>
            <a:ext cx="2103120" cy="731520"/>
          </a:xfrm>
          <a:prstGeom prst="rect">
            <a:avLst/>
          </a:prstGeom>
          <a:noFill/>
        </p:spPr>
        <p:txBody>
          <a:bodyPr wrap="square" lIns="0" rIns="0" tIns="0" bIns="0" anchor="t">
            <a:spAutoFit/>
          </a:bodyPr>
          <a:lstStyle/>
          <a:p>
            <a:pPr algn="ctr"/>
            <a:r>
              <a:rPr sz="1100" b="0" i="0">
                <a:solidFill>
                  <a:srgbClr val="5F6B68"/>
                </a:solidFill>
                <a:latin typeface="Calibri"/>
              </a:rPr>
              <a:t>valuation error · on a time-split holdout</a:t>
            </a:r>
          </a:p>
        </p:txBody>
      </p:sp>
      <p:sp>
        <p:nvSpPr>
          <p:cNvPr id="7" name="Rounded Rectangle 6"/>
          <p:cNvSpPr/>
          <p:nvPr/>
        </p:nvSpPr>
        <p:spPr>
          <a:xfrm>
            <a:off x="3017520" y="2148840"/>
            <a:ext cx="2103120" cy="1783080"/>
          </a:xfrm>
          <a:prstGeom prst="roundRect">
            <a:avLst>
              <a:gd name="adj" fmla="val 6000"/>
            </a:avLst>
          </a:prstGeom>
          <a:solidFill>
            <a:srgbClr val="E6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17520" y="2377440"/>
            <a:ext cx="2103120" cy="777240"/>
          </a:xfrm>
          <a:prstGeom prst="rect">
            <a:avLst/>
          </a:prstGeom>
          <a:noFill/>
        </p:spPr>
        <p:txBody>
          <a:bodyPr wrap="square" lIns="0" rIns="0" tIns="0" bIns="0" anchor="t">
            <a:spAutoFit/>
          </a:bodyPr>
          <a:lstStyle/>
          <a:p>
            <a:pPr algn="ctr"/>
            <a:r>
              <a:rPr sz="3400" b="1" i="0">
                <a:solidFill>
                  <a:srgbClr val="1F7A70"/>
                </a:solidFill>
                <a:latin typeface="Cambria"/>
              </a:rPr>
              <a:t>36.4%</a:t>
            </a:r>
          </a:p>
        </p:txBody>
      </p:sp>
      <p:sp>
        <p:nvSpPr>
          <p:cNvPr id="9" name="TextBox 8"/>
          <p:cNvSpPr txBox="1"/>
          <p:nvPr/>
        </p:nvSpPr>
        <p:spPr>
          <a:xfrm>
            <a:off x="3017520" y="3127248"/>
            <a:ext cx="2103120" cy="731520"/>
          </a:xfrm>
          <a:prstGeom prst="rect">
            <a:avLst/>
          </a:prstGeom>
          <a:noFill/>
        </p:spPr>
        <p:txBody>
          <a:bodyPr wrap="square" lIns="0" rIns="0" tIns="0" bIns="0" anchor="t">
            <a:spAutoFit/>
          </a:bodyPr>
          <a:lstStyle/>
          <a:p>
            <a:pPr algn="ctr"/>
            <a:r>
              <a:rPr sz="1100" b="0" i="0">
                <a:solidFill>
                  <a:srgbClr val="5F6B68"/>
                </a:solidFill>
                <a:latin typeface="Calibri"/>
              </a:rPr>
              <a:t>the area-median · baseline it beats</a:t>
            </a:r>
          </a:p>
        </p:txBody>
      </p:sp>
      <p:sp>
        <p:nvSpPr>
          <p:cNvPr id="10" name="Rounded Rectangle 9"/>
          <p:cNvSpPr/>
          <p:nvPr/>
        </p:nvSpPr>
        <p:spPr>
          <a:xfrm>
            <a:off x="5349240" y="2148840"/>
            <a:ext cx="2103120" cy="1783080"/>
          </a:xfrm>
          <a:prstGeom prst="roundRect">
            <a:avLst>
              <a:gd name="adj" fmla="val 6000"/>
            </a:avLst>
          </a:prstGeom>
          <a:solidFill>
            <a:srgbClr val="E6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49240" y="2377440"/>
            <a:ext cx="2103120" cy="777240"/>
          </a:xfrm>
          <a:prstGeom prst="rect">
            <a:avLst/>
          </a:prstGeom>
          <a:noFill/>
        </p:spPr>
        <p:txBody>
          <a:bodyPr wrap="square" lIns="0" rIns="0" tIns="0" bIns="0" anchor="t">
            <a:spAutoFit/>
          </a:bodyPr>
          <a:lstStyle/>
          <a:p>
            <a:pPr algn="ctr"/>
            <a:r>
              <a:rPr sz="3400" b="1" i="0">
                <a:solidFill>
                  <a:srgbClr val="1F7A70"/>
                </a:solidFill>
                <a:latin typeface="Cambria"/>
              </a:rPr>
              <a:t>19.4%</a:t>
            </a:r>
          </a:p>
        </p:txBody>
      </p:sp>
      <p:sp>
        <p:nvSpPr>
          <p:cNvPr id="12" name="TextBox 11"/>
          <p:cNvSpPr txBox="1"/>
          <p:nvPr/>
        </p:nvSpPr>
        <p:spPr>
          <a:xfrm>
            <a:off x="5349240" y="3127248"/>
            <a:ext cx="2103120" cy="731520"/>
          </a:xfrm>
          <a:prstGeom prst="rect">
            <a:avLst/>
          </a:prstGeom>
          <a:noFill/>
        </p:spPr>
        <p:txBody>
          <a:bodyPr wrap="square" lIns="0" rIns="0" tIns="0" bIns="0" anchor="t">
            <a:spAutoFit/>
          </a:bodyPr>
          <a:lstStyle/>
          <a:p>
            <a:pPr algn="ctr"/>
            <a:r>
              <a:rPr sz="1100" b="0" i="0">
                <a:solidFill>
                  <a:srgbClr val="5F6B68"/>
                </a:solidFill>
                <a:latin typeface="Calibri"/>
              </a:rPr>
              <a:t>estimated noise floor · the honest target</a:t>
            </a:r>
          </a:p>
        </p:txBody>
      </p:sp>
      <p:sp>
        <p:nvSpPr>
          <p:cNvPr id="13" name="Rounded Rectangle 12"/>
          <p:cNvSpPr/>
          <p:nvPr/>
        </p:nvSpPr>
        <p:spPr>
          <a:xfrm>
            <a:off x="7772400" y="2148840"/>
            <a:ext cx="3749039" cy="1783080"/>
          </a:xfrm>
          <a:prstGeom prst="roundRect">
            <a:avLst>
              <a:gd name="adj" fmla="val 6000"/>
            </a:avLst>
          </a:prstGeom>
          <a:solidFill>
            <a:srgbClr val="E6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2377440"/>
            <a:ext cx="3749039" cy="777240"/>
          </a:xfrm>
          <a:prstGeom prst="rect">
            <a:avLst/>
          </a:prstGeom>
          <a:noFill/>
        </p:spPr>
        <p:txBody>
          <a:bodyPr wrap="square" lIns="0" rIns="0" tIns="0" bIns="0" anchor="t">
            <a:spAutoFit/>
          </a:bodyPr>
          <a:lstStyle/>
          <a:p>
            <a:pPr algn="ctr"/>
            <a:r>
              <a:rPr sz="3400" b="1" i="0">
                <a:solidFill>
                  <a:srgbClr val="1F7A70"/>
                </a:solidFill>
                <a:latin typeface="Cambria"/>
              </a:rPr>
              <a:t>77/86</a:t>
            </a:r>
          </a:p>
        </p:txBody>
      </p:sp>
      <p:sp>
        <p:nvSpPr>
          <p:cNvPr id="15" name="TextBox 14"/>
          <p:cNvSpPr txBox="1"/>
          <p:nvPr/>
        </p:nvSpPr>
        <p:spPr>
          <a:xfrm>
            <a:off x="7772400" y="3127248"/>
            <a:ext cx="3749039" cy="731520"/>
          </a:xfrm>
          <a:prstGeom prst="rect">
            <a:avLst/>
          </a:prstGeom>
          <a:noFill/>
        </p:spPr>
        <p:txBody>
          <a:bodyPr wrap="square" lIns="0" rIns="0" tIns="0" bIns="0" anchor="t">
            <a:spAutoFit/>
          </a:bodyPr>
          <a:lstStyle/>
          <a:p>
            <a:pPr algn="ctr"/>
            <a:r>
              <a:rPr sz="1100" b="0" i="0">
                <a:solidFill>
                  <a:srgbClr val="5F6B68"/>
                </a:solidFill>
                <a:latin typeface="Calibri"/>
              </a:rPr>
              <a:t>areas where the forecast beats seasonal naive</a:t>
            </a:r>
          </a:p>
        </p:txBody>
      </p:sp>
      <p:sp>
        <p:nvSpPr>
          <p:cNvPr id="16" name="TextBox 15"/>
          <p:cNvSpPr txBox="1"/>
          <p:nvPr/>
        </p:nvSpPr>
        <p:spPr>
          <a:xfrm>
            <a:off x="685800" y="4206240"/>
            <a:ext cx="10820095" cy="1828800"/>
          </a:xfrm>
          <a:prstGeom prst="rect">
            <a:avLst/>
          </a:prstGeom>
          <a:noFill/>
        </p:spPr>
        <p:txBody>
          <a:bodyPr wrap="square" lIns="0" rIns="0">
            <a:spAutoFit/>
          </a:bodyPr>
          <a:lstStyle/>
          <a:p>
            <a:pPr>
              <a:lnSpc>
                <a:spcPct val="120000"/>
              </a:lnSpc>
              <a:spcAft>
                <a:spcPts val="1000"/>
              </a:spcAft>
            </a:pPr>
            <a:r>
              <a:rPr sz="1350">
                <a:solidFill>
                  <a:srgbClr val="141A19"/>
                </a:solidFill>
                <a:latin typeface="Calibri"/>
              </a:rPr>
              <a:t>The holdout is split by time, not at random. A random split lets the model see the future of the same building, which flatters it.</a:t>
            </a:r>
          </a:p>
          <a:p>
            <a:pPr>
              <a:lnSpc>
                <a:spcPct val="120000"/>
              </a:lnSpc>
              <a:spcAft>
                <a:spcPts val="1000"/>
              </a:spcAft>
            </a:pPr>
            <a:r>
              <a:rPr sz="1350">
                <a:solidFill>
                  <a:srgbClr val="141A19"/>
                </a:solidFill>
                <a:latin typeface="Calibri"/>
              </a:rPr>
              <a:t>Error is compared against an estimated noise floor rather than against zero: two identical units sell weeks apart at different prices, and no model explains that gap.</a:t>
            </a:r>
          </a:p>
          <a:p>
            <a:pPr>
              <a:lnSpc>
                <a:spcPct val="120000"/>
              </a:lnSpc>
              <a:spcAft>
                <a:spcPts val="1000"/>
              </a:spcAft>
            </a:pPr>
            <a:r>
              <a:rPr sz="1350">
                <a:solidFill>
                  <a:srgbClr val="141A19"/>
                </a:solidFill>
                <a:latin typeface="Calibri"/>
              </a:rPr>
              <a:t>Cells with too few transactions are suppressed. A yield from three sales is not a yield, and a small-sample footnote is a way of showing it anyway.</a:t>
            </a:r>
          </a:p>
        </p:txBody>
      </p:sp>
      <p:sp>
        <p:nvSpPr>
          <p:cNvPr id="17" name="TextBox 16"/>
          <p:cNvSpPr txBox="1"/>
          <p:nvPr/>
        </p:nvSpPr>
        <p:spPr>
          <a:xfrm>
            <a:off x="685800" y="6199632"/>
            <a:ext cx="10820095" cy="384048"/>
          </a:xfrm>
          <a:prstGeom prst="rect">
            <a:avLst/>
          </a:prstGeom>
          <a:noFill/>
        </p:spPr>
        <p:txBody>
          <a:bodyPr wrap="square" lIns="0" rIns="0" tIns="0" bIns="0" anchor="t">
            <a:spAutoFit/>
          </a:bodyPr>
          <a:lstStyle/>
          <a:p>
            <a:pPr algn="l"/>
            <a:r>
              <a:rPr sz="1050" b="1" i="0">
                <a:solidFill>
                  <a:srgbClr val="9A3A12"/>
                </a:solidFill>
                <a:latin typeface="Calibri"/>
              </a:rPr>
              <a:t>These figures were computed from a labelled stand-in. They show the pipeline runs; they are not claims about the Dubai market.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66928"/>
            <a:ext cx="10820095" cy="914400"/>
          </a:xfrm>
          <a:prstGeom prst="rect">
            <a:avLst/>
          </a:prstGeom>
          <a:noFill/>
        </p:spPr>
        <p:txBody>
          <a:bodyPr wrap="square" lIns="0" rIns="0" tIns="0" bIns="0" anchor="t">
            <a:spAutoFit/>
          </a:bodyPr>
          <a:lstStyle/>
          <a:p>
            <a:pPr algn="l"/>
            <a:r>
              <a:rPr sz="3800" b="1" i="0">
                <a:solidFill>
                  <a:srgbClr val="141A19"/>
                </a:solidFill>
                <a:latin typeface="Cambria"/>
              </a:rPr>
              <a:t>Answers you can check</a:t>
            </a:r>
          </a:p>
        </p:txBody>
      </p:sp>
      <p:sp>
        <p:nvSpPr>
          <p:cNvPr id="3" name="TextBox 2"/>
          <p:cNvSpPr txBox="1"/>
          <p:nvPr/>
        </p:nvSpPr>
        <p:spPr>
          <a:xfrm>
            <a:off x="685800" y="1389888"/>
            <a:ext cx="10820095" cy="457200"/>
          </a:xfrm>
          <a:prstGeom prst="rect">
            <a:avLst/>
          </a:prstGeom>
          <a:noFill/>
        </p:spPr>
        <p:txBody>
          <a:bodyPr wrap="square" lIns="0" rIns="0" tIns="0" bIns="0" anchor="t">
            <a:spAutoFit/>
          </a:bodyPr>
          <a:lstStyle/>
          <a:p>
            <a:pPr algn="l"/>
            <a:r>
              <a:rPr sz="1400" b="0" i="1">
                <a:solidFill>
                  <a:srgbClr val="5F6B68"/>
                </a:solidFill>
                <a:latin typeface="Calibri"/>
              </a:rPr>
              <a:t>Retrieval, and the guarantee that survives the model</a:t>
            </a:r>
          </a:p>
        </p:txBody>
      </p:sp>
      <p:sp>
        <p:nvSpPr>
          <p:cNvPr id="4" name="Rounded Rectangle 3"/>
          <p:cNvSpPr/>
          <p:nvPr/>
        </p:nvSpPr>
        <p:spPr>
          <a:xfrm>
            <a:off x="685800" y="2103120"/>
            <a:ext cx="2514600" cy="1691640"/>
          </a:xfrm>
          <a:prstGeom prst="roundRect">
            <a:avLst>
              <a:gd name="adj" fmla="val 6000"/>
            </a:avLst>
          </a:prstGeom>
          <a:solidFill>
            <a:srgbClr val="E6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2304288"/>
            <a:ext cx="2514600" cy="777240"/>
          </a:xfrm>
          <a:prstGeom prst="rect">
            <a:avLst/>
          </a:prstGeom>
          <a:noFill/>
        </p:spPr>
        <p:txBody>
          <a:bodyPr wrap="square" lIns="0" rIns="0" tIns="0" bIns="0" anchor="t">
            <a:spAutoFit/>
          </a:bodyPr>
          <a:lstStyle/>
          <a:p>
            <a:pPr algn="ctr"/>
            <a:r>
              <a:rPr sz="3600" b="1" i="0">
                <a:solidFill>
                  <a:srgbClr val="1F7A70"/>
                </a:solidFill>
                <a:latin typeface="Cambria"/>
              </a:rPr>
              <a:t>0.87</a:t>
            </a:r>
          </a:p>
        </p:txBody>
      </p:sp>
      <p:sp>
        <p:nvSpPr>
          <p:cNvPr id="6" name="TextBox 5"/>
          <p:cNvSpPr txBox="1"/>
          <p:nvPr/>
        </p:nvSpPr>
        <p:spPr>
          <a:xfrm>
            <a:off x="685800" y="3054096"/>
            <a:ext cx="2514600" cy="731520"/>
          </a:xfrm>
          <a:prstGeom prst="rect">
            <a:avLst/>
          </a:prstGeom>
          <a:noFill/>
        </p:spPr>
        <p:txBody>
          <a:bodyPr wrap="square" lIns="0" rIns="0" tIns="0" bIns="0" anchor="t">
            <a:spAutoFit/>
          </a:bodyPr>
          <a:lstStyle/>
          <a:p>
            <a:pPr algn="ctr"/>
            <a:r>
              <a:rPr sz="1100" b="0" i="0">
                <a:solidFill>
                  <a:srgbClr val="5F6B68"/>
                </a:solidFill>
                <a:latin typeface="Calibri"/>
              </a:rPr>
              <a:t>recall@1 · the rank measure that matters</a:t>
            </a:r>
          </a:p>
        </p:txBody>
      </p:sp>
      <p:sp>
        <p:nvSpPr>
          <p:cNvPr id="7" name="Rounded Rectangle 6"/>
          <p:cNvSpPr/>
          <p:nvPr/>
        </p:nvSpPr>
        <p:spPr>
          <a:xfrm>
            <a:off x="3429000" y="2103120"/>
            <a:ext cx="2514600" cy="1691640"/>
          </a:xfrm>
          <a:prstGeom prst="roundRect">
            <a:avLst>
              <a:gd name="adj" fmla="val 6000"/>
            </a:avLst>
          </a:prstGeom>
          <a:solidFill>
            <a:srgbClr val="E6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29000" y="2304288"/>
            <a:ext cx="2514600" cy="777240"/>
          </a:xfrm>
          <a:prstGeom prst="rect">
            <a:avLst/>
          </a:prstGeom>
          <a:noFill/>
        </p:spPr>
        <p:txBody>
          <a:bodyPr wrap="square" lIns="0" rIns="0" tIns="0" bIns="0" anchor="t">
            <a:spAutoFit/>
          </a:bodyPr>
          <a:lstStyle/>
          <a:p>
            <a:pPr algn="ctr"/>
            <a:r>
              <a:rPr sz="3600" b="1" i="0">
                <a:solidFill>
                  <a:srgbClr val="1F7A70"/>
                </a:solidFill>
                <a:latin typeface="Cambria"/>
              </a:rPr>
              <a:t>0.91</a:t>
            </a:r>
          </a:p>
        </p:txBody>
      </p:sp>
      <p:sp>
        <p:nvSpPr>
          <p:cNvPr id="9" name="TextBox 8"/>
          <p:cNvSpPr txBox="1"/>
          <p:nvPr/>
        </p:nvSpPr>
        <p:spPr>
          <a:xfrm>
            <a:off x="3429000" y="3054096"/>
            <a:ext cx="2514600" cy="731520"/>
          </a:xfrm>
          <a:prstGeom prst="rect">
            <a:avLst/>
          </a:prstGeom>
          <a:noFill/>
        </p:spPr>
        <p:txBody>
          <a:bodyPr wrap="square" lIns="0" rIns="0" tIns="0" bIns="0" anchor="t">
            <a:spAutoFit/>
          </a:bodyPr>
          <a:lstStyle/>
          <a:p>
            <a:pPr algn="ctr"/>
            <a:r>
              <a:rPr sz="1100" b="0" i="0">
                <a:solidFill>
                  <a:srgbClr val="5F6B68"/>
                </a:solidFill>
                <a:latin typeface="Calibri"/>
              </a:rPr>
              <a:t>mean reciprocal rank</a:t>
            </a:r>
          </a:p>
        </p:txBody>
      </p:sp>
      <p:sp>
        <p:nvSpPr>
          <p:cNvPr id="10" name="Rounded Rectangle 9"/>
          <p:cNvSpPr/>
          <p:nvPr/>
        </p:nvSpPr>
        <p:spPr>
          <a:xfrm>
            <a:off x="6172200" y="2103120"/>
            <a:ext cx="2514600" cy="1691640"/>
          </a:xfrm>
          <a:prstGeom prst="roundRect">
            <a:avLst>
              <a:gd name="adj" fmla="val 6000"/>
            </a:avLst>
          </a:prstGeom>
          <a:solidFill>
            <a:srgbClr val="E6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72200" y="2304288"/>
            <a:ext cx="2514600" cy="777240"/>
          </a:xfrm>
          <a:prstGeom prst="rect">
            <a:avLst/>
          </a:prstGeom>
          <a:noFill/>
        </p:spPr>
        <p:txBody>
          <a:bodyPr wrap="square" lIns="0" rIns="0" tIns="0" bIns="0" anchor="t">
            <a:spAutoFit/>
          </a:bodyPr>
          <a:lstStyle/>
          <a:p>
            <a:pPr algn="ctr"/>
            <a:r>
              <a:rPr sz="3600" b="1" i="0">
                <a:solidFill>
                  <a:srgbClr val="1F7A70"/>
                </a:solidFill>
                <a:latin typeface="Cambria"/>
              </a:rPr>
              <a:t>1.00</a:t>
            </a:r>
          </a:p>
        </p:txBody>
      </p:sp>
      <p:sp>
        <p:nvSpPr>
          <p:cNvPr id="12" name="TextBox 11"/>
          <p:cNvSpPr txBox="1"/>
          <p:nvPr/>
        </p:nvSpPr>
        <p:spPr>
          <a:xfrm>
            <a:off x="6172200" y="3054096"/>
            <a:ext cx="2514600" cy="731520"/>
          </a:xfrm>
          <a:prstGeom prst="rect">
            <a:avLst/>
          </a:prstGeom>
          <a:noFill/>
        </p:spPr>
        <p:txBody>
          <a:bodyPr wrap="square" lIns="0" rIns="0" tIns="0" bIns="0" anchor="t">
            <a:spAutoFit/>
          </a:bodyPr>
          <a:lstStyle/>
          <a:p>
            <a:pPr algn="ctr"/>
            <a:r>
              <a:rPr sz="1100" b="0" i="0">
                <a:solidFill>
                  <a:srgbClr val="5F6B68"/>
                </a:solidFill>
                <a:latin typeface="Calibri"/>
              </a:rPr>
              <a:t>faithfulness · every sentence traceable</a:t>
            </a:r>
          </a:p>
        </p:txBody>
      </p:sp>
      <p:sp>
        <p:nvSpPr>
          <p:cNvPr id="13" name="Rounded Rectangle 12"/>
          <p:cNvSpPr/>
          <p:nvPr/>
        </p:nvSpPr>
        <p:spPr>
          <a:xfrm>
            <a:off x="8915400" y="2103120"/>
            <a:ext cx="2514600" cy="1691640"/>
          </a:xfrm>
          <a:prstGeom prst="roundRect">
            <a:avLst>
              <a:gd name="adj" fmla="val 6000"/>
            </a:avLst>
          </a:prstGeom>
          <a:solidFill>
            <a:srgbClr val="E6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5400" y="2304288"/>
            <a:ext cx="2514600" cy="777240"/>
          </a:xfrm>
          <a:prstGeom prst="rect">
            <a:avLst/>
          </a:prstGeom>
          <a:noFill/>
        </p:spPr>
        <p:txBody>
          <a:bodyPr wrap="square" lIns="0" rIns="0" tIns="0" bIns="0" anchor="t">
            <a:spAutoFit/>
          </a:bodyPr>
          <a:lstStyle/>
          <a:p>
            <a:pPr algn="ctr"/>
            <a:r>
              <a:rPr sz="3600" b="1" i="0">
                <a:solidFill>
                  <a:srgbClr val="1F7A70"/>
                </a:solidFill>
                <a:latin typeface="Cambria"/>
              </a:rPr>
              <a:t>38</a:t>
            </a:r>
          </a:p>
        </p:txBody>
      </p:sp>
      <p:sp>
        <p:nvSpPr>
          <p:cNvPr id="15" name="TextBox 14"/>
          <p:cNvSpPr txBox="1"/>
          <p:nvPr/>
        </p:nvSpPr>
        <p:spPr>
          <a:xfrm>
            <a:off x="8915400" y="3054096"/>
            <a:ext cx="2514600" cy="731520"/>
          </a:xfrm>
          <a:prstGeom prst="rect">
            <a:avLst/>
          </a:prstGeom>
          <a:noFill/>
        </p:spPr>
        <p:txBody>
          <a:bodyPr wrap="square" lIns="0" rIns="0" tIns="0" bIns="0" anchor="t">
            <a:spAutoFit/>
          </a:bodyPr>
          <a:lstStyle/>
          <a:p>
            <a:pPr algn="ctr"/>
            <a:r>
              <a:rPr sz="1100" b="0" i="0">
                <a:solidFill>
                  <a:srgbClr val="5F6B68"/>
                </a:solidFill>
                <a:latin typeface="Calibri"/>
              </a:rPr>
              <a:t>cases · English, Hindi and Arabic</a:t>
            </a:r>
          </a:p>
        </p:txBody>
      </p:sp>
      <p:sp>
        <p:nvSpPr>
          <p:cNvPr id="16" name="TextBox 15"/>
          <p:cNvSpPr txBox="1"/>
          <p:nvPr/>
        </p:nvSpPr>
        <p:spPr>
          <a:xfrm>
            <a:off x="685800" y="4069080"/>
            <a:ext cx="10820095" cy="2011680"/>
          </a:xfrm>
          <a:prstGeom prst="rect">
            <a:avLst/>
          </a:prstGeom>
          <a:noFill/>
        </p:spPr>
        <p:txBody>
          <a:bodyPr wrap="square" lIns="0" rIns="0">
            <a:spAutoFit/>
          </a:bodyPr>
          <a:lstStyle/>
          <a:p>
            <a:pPr>
              <a:lnSpc>
                <a:spcPct val="120000"/>
              </a:lnSpc>
              <a:spcAft>
                <a:spcPts val="1000"/>
              </a:spcAft>
            </a:pPr>
            <a:r>
              <a:rPr sz="1350">
                <a:solidFill>
                  <a:srgbClr val="141A19"/>
                </a:solidFill>
                <a:latin typeface="Calibri"/>
              </a:rPr>
              <a:t>Recall@5 is 1.00 and that is the least interesting number here — the corpus is 117 chunks, so finding the right one in five is easy. The rank measures are the ones that say anything.</a:t>
            </a:r>
          </a:p>
          <a:p>
            <a:pPr>
              <a:lnSpc>
                <a:spcPct val="120000"/>
              </a:lnSpc>
              <a:spcAft>
                <a:spcPts val="1000"/>
              </a:spcAft>
            </a:pPr>
            <a:r>
              <a:rPr sz="1350">
                <a:solidFill>
                  <a:srgbClr val="141A19"/>
                </a:solidFill>
                <a:latin typeface="Calibri"/>
              </a:rPr>
              <a:t>Every factual sentence without a citation is deleted after generation. The guarantee is a filter, not a request in a prompt.</a:t>
            </a:r>
          </a:p>
          <a:p>
            <a:pPr>
              <a:lnSpc>
                <a:spcPct val="120000"/>
              </a:lnSpc>
              <a:spcAft>
                <a:spcPts val="1000"/>
              </a:spcAft>
            </a:pPr>
            <a:r>
              <a:rPr sz="1350">
                <a:solidFill>
                  <a:srgbClr val="141A19"/>
                </a:solidFill>
                <a:latin typeface="Calibri"/>
              </a:rPr>
              <a:t>A relevance threshold for refusing out-of-scope questions was measured and rejected: no signal separates them on this corpus without also refusing real questions.</a:t>
            </a:r>
          </a:p>
        </p:txBody>
      </p:sp>
      <p:sp>
        <p:nvSpPr>
          <p:cNvPr id="17" name="TextBox 16"/>
          <p:cNvSpPr txBox="1"/>
          <p:nvPr/>
        </p:nvSpPr>
        <p:spPr>
          <a:xfrm>
            <a:off x="685800" y="6199632"/>
            <a:ext cx="10820095" cy="384048"/>
          </a:xfrm>
          <a:prstGeom prst="rect">
            <a:avLst/>
          </a:prstGeom>
          <a:noFill/>
        </p:spPr>
        <p:txBody>
          <a:bodyPr wrap="square" lIns="0" rIns="0" tIns="0" bIns="0" anchor="t">
            <a:spAutoFit/>
          </a:bodyPr>
          <a:lstStyle/>
          <a:p>
            <a:pPr algn="l"/>
            <a:r>
              <a:rPr sz="1050" b="1" i="0">
                <a:solidFill>
                  <a:srgbClr val="9A3A12"/>
                </a:solidFill>
                <a:latin typeface="Calibri"/>
              </a:rPr>
              <a:t>Scored against the offline tfidf-svd fallback — the hybrid design this exists to measure has not yet run against a live embedding provider.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66928"/>
            <a:ext cx="10820095" cy="914400"/>
          </a:xfrm>
          <a:prstGeom prst="rect">
            <a:avLst/>
          </a:prstGeom>
          <a:noFill/>
        </p:spPr>
        <p:txBody>
          <a:bodyPr wrap="square" lIns="0" rIns="0" tIns="0" bIns="0" anchor="t">
            <a:spAutoFit/>
          </a:bodyPr>
          <a:lstStyle/>
          <a:p>
            <a:pPr algn="l"/>
            <a:r>
              <a:rPr sz="3800" b="1" i="0">
                <a:solidFill>
                  <a:srgbClr val="141A19"/>
                </a:solidFill>
                <a:latin typeface="Cambria"/>
              </a:rPr>
              <a:t>What the agents cannot do</a:t>
            </a:r>
          </a:p>
        </p:txBody>
      </p:sp>
      <p:sp>
        <p:nvSpPr>
          <p:cNvPr id="3" name="TextBox 2"/>
          <p:cNvSpPr txBox="1"/>
          <p:nvPr/>
        </p:nvSpPr>
        <p:spPr>
          <a:xfrm>
            <a:off x="685800" y="1389888"/>
            <a:ext cx="10820095" cy="457200"/>
          </a:xfrm>
          <a:prstGeom prst="rect">
            <a:avLst/>
          </a:prstGeom>
          <a:noFill/>
        </p:spPr>
        <p:txBody>
          <a:bodyPr wrap="square" lIns="0" rIns="0" tIns="0" bIns="0" anchor="t">
            <a:spAutoFit/>
          </a:bodyPr>
          <a:lstStyle/>
          <a:p>
            <a:pPr algn="l"/>
            <a:r>
              <a:rPr sz="1400" b="0" i="1">
                <a:solidFill>
                  <a:srgbClr val="5F6B68"/>
                </a:solidFill>
                <a:latin typeface="Calibri"/>
              </a:rPr>
              <a:t>The boundary is architectural, not a policy</a:t>
            </a:r>
          </a:p>
        </p:txBody>
      </p:sp>
      <p:sp>
        <p:nvSpPr>
          <p:cNvPr id="4" name="Rounded Rectangle 3"/>
          <p:cNvSpPr/>
          <p:nvPr/>
        </p:nvSpPr>
        <p:spPr>
          <a:xfrm>
            <a:off x="685800" y="2103120"/>
            <a:ext cx="3200400" cy="1828800"/>
          </a:xfrm>
          <a:prstGeom prst="roundRect">
            <a:avLst>
              <a:gd name="adj" fmla="val 6000"/>
            </a:avLst>
          </a:prstGeom>
          <a:solidFill>
            <a:srgbClr val="E6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2331720"/>
            <a:ext cx="3200400" cy="777240"/>
          </a:xfrm>
          <a:prstGeom prst="rect">
            <a:avLst/>
          </a:prstGeom>
          <a:noFill/>
        </p:spPr>
        <p:txBody>
          <a:bodyPr wrap="square" lIns="0" rIns="0" tIns="0" bIns="0" anchor="t">
            <a:spAutoFit/>
          </a:bodyPr>
          <a:lstStyle/>
          <a:p>
            <a:pPr algn="ctr"/>
            <a:r>
              <a:rPr sz="4800" b="1" i="0">
                <a:solidFill>
                  <a:srgbClr val="1F7A70"/>
                </a:solidFill>
                <a:latin typeface="Cambria"/>
              </a:rPr>
              <a:t>11/11</a:t>
            </a:r>
          </a:p>
        </p:txBody>
      </p:sp>
      <p:sp>
        <p:nvSpPr>
          <p:cNvPr id="6" name="TextBox 5"/>
          <p:cNvSpPr txBox="1"/>
          <p:nvPr/>
        </p:nvSpPr>
        <p:spPr>
          <a:xfrm>
            <a:off x="685800" y="3081528"/>
            <a:ext cx="3200400" cy="731520"/>
          </a:xfrm>
          <a:prstGeom prst="rect">
            <a:avLst/>
          </a:prstGeom>
          <a:noFill/>
        </p:spPr>
        <p:txBody>
          <a:bodyPr wrap="square" lIns="0" rIns="0" tIns="0" bIns="0" anchor="t">
            <a:spAutoFit/>
          </a:bodyPr>
          <a:lstStyle/>
          <a:p>
            <a:pPr algn="ctr"/>
            <a:r>
              <a:rPr sz="1100" b="0" i="0">
                <a:solidFill>
                  <a:srgbClr val="5F6B68"/>
                </a:solidFill>
                <a:latin typeface="Calibri"/>
              </a:rPr>
              <a:t>OWASP ASI controls held · every attack runs in CI</a:t>
            </a:r>
          </a:p>
        </p:txBody>
      </p:sp>
      <p:sp>
        <p:nvSpPr>
          <p:cNvPr id="7" name="TextBox 6"/>
          <p:cNvSpPr txBox="1"/>
          <p:nvPr/>
        </p:nvSpPr>
        <p:spPr>
          <a:xfrm>
            <a:off x="4343400" y="2103120"/>
            <a:ext cx="7178040" cy="2011680"/>
          </a:xfrm>
          <a:prstGeom prst="rect">
            <a:avLst/>
          </a:prstGeom>
          <a:noFill/>
        </p:spPr>
        <p:txBody>
          <a:bodyPr wrap="square" lIns="0" rIns="0">
            <a:spAutoFit/>
          </a:bodyPr>
          <a:lstStyle/>
          <a:p>
            <a:pPr>
              <a:lnSpc>
                <a:spcPct val="120000"/>
              </a:lnSpc>
              <a:spcAft>
                <a:spcPts val="1000"/>
              </a:spcAft>
            </a:pPr>
            <a:r>
              <a:rPr sz="1350">
                <a:solidFill>
                  <a:srgbClr val="141A19"/>
                </a:solidFill>
                <a:latin typeface="Calibri"/>
              </a:rPr>
              <a:t>No endpoint buys, sells, lists or finances anything. There is no tool to misuse.</a:t>
            </a:r>
          </a:p>
          <a:p>
            <a:pPr>
              <a:lnSpc>
                <a:spcPct val="120000"/>
              </a:lnSpc>
              <a:spcAft>
                <a:spcPts val="1000"/>
              </a:spcAft>
            </a:pPr>
            <a:r>
              <a:rPr sz="1350">
                <a:solidFill>
                  <a:srgbClr val="141A19"/>
                </a:solidFill>
                <a:latin typeface="Calibri"/>
              </a:rPr>
              <a:t>Every run is bounded on requests, seconds and steps — three axes because a loop burns steps without time and a slow provider burns time without steps.</a:t>
            </a:r>
          </a:p>
          <a:p>
            <a:pPr>
              <a:lnSpc>
                <a:spcPct val="120000"/>
              </a:lnSpc>
              <a:spcAft>
                <a:spcPts val="1000"/>
              </a:spcAft>
            </a:pPr>
            <a:r>
              <a:rPr sz="1350">
                <a:solidFill>
                  <a:srgbClr val="141A19"/>
                </a:solidFill>
                <a:latin typeface="Calibri"/>
              </a:rPr>
              <a:t>The Auditor rejects a memo written in the language of a recommendation, whatever produced it.</a:t>
            </a:r>
          </a:p>
        </p:txBody>
      </p:sp>
      <p:sp>
        <p:nvSpPr>
          <p:cNvPr id="8" name="Rounded Rectangle 7"/>
          <p:cNvSpPr/>
          <p:nvPr/>
        </p:nvSpPr>
        <p:spPr>
          <a:xfrm>
            <a:off x="685800" y="4251960"/>
            <a:ext cx="10820095" cy="1783080"/>
          </a:xfrm>
          <a:prstGeom prst="roundRect">
            <a:avLst>
              <a:gd name="adj" fmla="val 6000"/>
            </a:avLst>
          </a:prstGeom>
          <a:solidFill>
            <a:srgbClr val="FD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4462272"/>
            <a:ext cx="10180015" cy="365760"/>
          </a:xfrm>
          <a:prstGeom prst="rect">
            <a:avLst/>
          </a:prstGeom>
          <a:noFill/>
        </p:spPr>
        <p:txBody>
          <a:bodyPr wrap="square" lIns="0" rIns="0" tIns="0" bIns="0" anchor="t">
            <a:spAutoFit/>
          </a:bodyPr>
          <a:lstStyle/>
          <a:p>
            <a:pPr algn="l"/>
            <a:r>
              <a:rPr sz="1600" b="1" i="0">
                <a:solidFill>
                  <a:srgbClr val="9A3A12"/>
                </a:solidFill>
                <a:latin typeface="Cambria"/>
              </a:rPr>
              <a:t>Two faults found by attacking our own claims</a:t>
            </a:r>
          </a:p>
        </p:txBody>
      </p:sp>
      <p:sp>
        <p:nvSpPr>
          <p:cNvPr id="10" name="TextBox 9"/>
          <p:cNvSpPr txBox="1"/>
          <p:nvPr/>
        </p:nvSpPr>
        <p:spPr>
          <a:xfrm>
            <a:off x="1005840" y="4892040"/>
            <a:ext cx="10180015" cy="1097280"/>
          </a:xfrm>
          <a:prstGeom prst="rect">
            <a:avLst/>
          </a:prstGeom>
          <a:noFill/>
        </p:spPr>
        <p:txBody>
          <a:bodyPr wrap="square" lIns="0" rIns="0">
            <a:spAutoFit/>
          </a:bodyPr>
          <a:lstStyle/>
          <a:p>
            <a:pPr>
              <a:lnSpc>
                <a:spcPct val="120000"/>
              </a:lnSpc>
              <a:spcAft>
                <a:spcPts val="500"/>
              </a:spcAft>
            </a:pPr>
            <a:r>
              <a:rPr sz="1150">
                <a:solidFill>
                  <a:srgbClr val="141A19"/>
                </a:solidFill>
                <a:latin typeface="Calibri"/>
              </a:rPr>
              <a:t>Retrieved text was wrapped in delimiters and declared to be data — but a document containing the closing delimiter ended the quarantine early. Fixed, and now an attack in the suite.</a:t>
            </a:r>
          </a:p>
          <a:p>
            <a:pPr>
              <a:lnSpc>
                <a:spcPct val="120000"/>
              </a:lnSpc>
              <a:spcAft>
                <a:spcPts val="500"/>
              </a:spcAft>
            </a:pPr>
            <a:r>
              <a:rPr sz="1150">
                <a:solidFill>
                  <a:srgbClr val="141A19"/>
                </a:solidFill>
                <a:latin typeface="Calibri"/>
              </a:rPr>
              <a:t>The model API key travelled in a URL, and the HTTP library quotes URLs in errors. One rejected key would have written itself into the logs and error tracking.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66928"/>
            <a:ext cx="10820095" cy="914400"/>
          </a:xfrm>
          <a:prstGeom prst="rect">
            <a:avLst/>
          </a:prstGeom>
          <a:noFill/>
        </p:spPr>
        <p:txBody>
          <a:bodyPr wrap="square" lIns="0" rIns="0" tIns="0" bIns="0" anchor="t">
            <a:spAutoFit/>
          </a:bodyPr>
          <a:lstStyle/>
          <a:p>
            <a:pPr algn="l"/>
            <a:r>
              <a:rPr sz="3800" b="1" i="0">
                <a:solidFill>
                  <a:srgbClr val="141A19"/>
                </a:solidFill>
                <a:latin typeface="Cambria"/>
              </a:rPr>
              <a:t>What it costs to run</a:t>
            </a:r>
          </a:p>
        </p:txBody>
      </p:sp>
      <p:sp>
        <p:nvSpPr>
          <p:cNvPr id="3" name="TextBox 2"/>
          <p:cNvSpPr txBox="1"/>
          <p:nvPr/>
        </p:nvSpPr>
        <p:spPr>
          <a:xfrm>
            <a:off x="685800" y="1389888"/>
            <a:ext cx="10820095" cy="457200"/>
          </a:xfrm>
          <a:prstGeom prst="rect">
            <a:avLst/>
          </a:prstGeom>
          <a:noFill/>
        </p:spPr>
        <p:txBody>
          <a:bodyPr wrap="square" lIns="0" rIns="0" tIns="0" bIns="0" anchor="t">
            <a:spAutoFit/>
          </a:bodyPr>
          <a:lstStyle/>
          <a:p>
            <a:pPr algn="l"/>
            <a:r>
              <a:rPr sz="1400" b="0" i="1">
                <a:solidFill>
                  <a:srgbClr val="5F6B68"/>
                </a:solidFill>
                <a:latin typeface="Calibri"/>
              </a:rPr>
              <a:t>Zero, and that is a constraint rather than an accident</a:t>
            </a:r>
          </a:p>
        </p:txBody>
      </p:sp>
      <p:sp>
        <p:nvSpPr>
          <p:cNvPr id="4" name="Rounded Rectangle 3"/>
          <p:cNvSpPr/>
          <p:nvPr/>
        </p:nvSpPr>
        <p:spPr>
          <a:xfrm>
            <a:off x="685800" y="2148840"/>
            <a:ext cx="3108960" cy="1920240"/>
          </a:xfrm>
          <a:prstGeom prst="roundRect">
            <a:avLst>
              <a:gd name="adj" fmla="val 6000"/>
            </a:avLst>
          </a:prstGeom>
          <a:solidFill>
            <a:srgbClr val="E6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2377440"/>
            <a:ext cx="3108960" cy="777240"/>
          </a:xfrm>
          <a:prstGeom prst="rect">
            <a:avLst/>
          </a:prstGeom>
          <a:noFill/>
        </p:spPr>
        <p:txBody>
          <a:bodyPr wrap="square" lIns="0" rIns="0" tIns="0" bIns="0" anchor="t">
            <a:spAutoFit/>
          </a:bodyPr>
          <a:lstStyle/>
          <a:p>
            <a:pPr algn="ctr"/>
            <a:r>
              <a:rPr sz="4400" b="1" i="0">
                <a:solidFill>
                  <a:srgbClr val="1F7A70"/>
                </a:solidFill>
                <a:latin typeface="Cambria"/>
              </a:rPr>
              <a:t>$0.00</a:t>
            </a:r>
          </a:p>
        </p:txBody>
      </p:sp>
      <p:sp>
        <p:nvSpPr>
          <p:cNvPr id="6" name="TextBox 5"/>
          <p:cNvSpPr txBox="1"/>
          <p:nvPr/>
        </p:nvSpPr>
        <p:spPr>
          <a:xfrm>
            <a:off x="685800" y="3127248"/>
            <a:ext cx="3108960" cy="731520"/>
          </a:xfrm>
          <a:prstGeom prst="rect">
            <a:avLst/>
          </a:prstGeom>
          <a:noFill/>
        </p:spPr>
        <p:txBody>
          <a:bodyPr wrap="square" lIns="0" rIns="0" tIns="0" bIns="0" anchor="t">
            <a:spAutoFit/>
          </a:bodyPr>
          <a:lstStyle/>
          <a:p>
            <a:pPr algn="ctr"/>
            <a:r>
              <a:rPr sz="1100" b="0" i="0">
                <a:solidFill>
                  <a:srgbClr val="5F6B68"/>
                </a:solidFill>
                <a:latin typeface="Calibri"/>
              </a:rPr>
              <a:t>per month · verified against published rates</a:t>
            </a:r>
          </a:p>
        </p:txBody>
      </p:sp>
      <p:sp>
        <p:nvSpPr>
          <p:cNvPr id="7" name="Rounded Rectangle 6"/>
          <p:cNvSpPr/>
          <p:nvPr/>
        </p:nvSpPr>
        <p:spPr>
          <a:xfrm>
            <a:off x="4206240" y="2148840"/>
            <a:ext cx="7315200" cy="566928"/>
          </a:xfrm>
          <a:prstGeom prst="roundRect">
            <a:avLst>
              <a:gd name="adj" fmla="val 6000"/>
            </a:avLst>
          </a:prstGeom>
          <a:solidFill>
            <a:srgbClr val="F4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34840" y="2286000"/>
            <a:ext cx="2377440" cy="320040"/>
          </a:xfrm>
          <a:prstGeom prst="rect">
            <a:avLst/>
          </a:prstGeom>
          <a:noFill/>
        </p:spPr>
        <p:txBody>
          <a:bodyPr wrap="square" lIns="0" rIns="0" tIns="0" bIns="0" anchor="t">
            <a:spAutoFit/>
          </a:bodyPr>
          <a:lstStyle/>
          <a:p>
            <a:pPr algn="l"/>
            <a:r>
              <a:rPr sz="1300" b="1" i="0">
                <a:solidFill>
                  <a:srgbClr val="141A19"/>
                </a:solidFill>
                <a:latin typeface="Calibri"/>
              </a:rPr>
              <a:t>a demo day</a:t>
            </a:r>
          </a:p>
        </p:txBody>
      </p:sp>
      <p:sp>
        <p:nvSpPr>
          <p:cNvPr id="9" name="TextBox 8"/>
          <p:cNvSpPr txBox="1"/>
          <p:nvPr/>
        </p:nvSpPr>
        <p:spPr>
          <a:xfrm>
            <a:off x="6858000" y="2295144"/>
            <a:ext cx="1828800" cy="320040"/>
          </a:xfrm>
          <a:prstGeom prst="rect">
            <a:avLst/>
          </a:prstGeom>
          <a:noFill/>
        </p:spPr>
        <p:txBody>
          <a:bodyPr wrap="square" lIns="0" rIns="0" tIns="0" bIns="0" anchor="t">
            <a:spAutoFit/>
          </a:bodyPr>
          <a:lstStyle/>
          <a:p>
            <a:pPr algn="l"/>
            <a:r>
              <a:rPr sz="1200" b="0" i="0">
                <a:solidFill>
                  <a:srgbClr val="5F6B68"/>
                </a:solidFill>
                <a:latin typeface="Calibri"/>
              </a:rPr>
              <a:t>38 requests</a:t>
            </a:r>
          </a:p>
        </p:txBody>
      </p:sp>
      <p:sp>
        <p:nvSpPr>
          <p:cNvPr id="10" name="TextBox 9"/>
          <p:cNvSpPr txBox="1"/>
          <p:nvPr/>
        </p:nvSpPr>
        <p:spPr>
          <a:xfrm>
            <a:off x="8778240" y="2295144"/>
            <a:ext cx="2560320" cy="320040"/>
          </a:xfrm>
          <a:prstGeom prst="rect">
            <a:avLst/>
          </a:prstGeom>
          <a:noFill/>
        </p:spPr>
        <p:txBody>
          <a:bodyPr wrap="square" lIns="0" rIns="0" tIns="0" bIns="0" anchor="t">
            <a:spAutoFit/>
          </a:bodyPr>
          <a:lstStyle/>
          <a:p>
            <a:pPr algn="l"/>
            <a:r>
              <a:rPr sz="1150" b="0" i="0">
                <a:solidFill>
                  <a:srgbClr val="1F7A70"/>
                </a:solidFill>
                <a:latin typeface="Calibri"/>
              </a:rPr>
              <a:t>binds on Gemini embeddings</a:t>
            </a:r>
          </a:p>
        </p:txBody>
      </p:sp>
      <p:sp>
        <p:nvSpPr>
          <p:cNvPr id="11" name="Rounded Rectangle 10"/>
          <p:cNvSpPr/>
          <p:nvPr/>
        </p:nvSpPr>
        <p:spPr>
          <a:xfrm>
            <a:off x="4206240" y="2825496"/>
            <a:ext cx="7315200" cy="566928"/>
          </a:xfrm>
          <a:prstGeom prst="roundRect">
            <a:avLst>
              <a:gd name="adj" fmla="val 6000"/>
            </a:avLst>
          </a:prstGeom>
          <a:solidFill>
            <a:srgbClr val="F4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34840" y="2962656"/>
            <a:ext cx="2377440" cy="320040"/>
          </a:xfrm>
          <a:prstGeom prst="rect">
            <a:avLst/>
          </a:prstGeom>
          <a:noFill/>
        </p:spPr>
        <p:txBody>
          <a:bodyPr wrap="square" lIns="0" rIns="0" tIns="0" bIns="0" anchor="t">
            <a:spAutoFit/>
          </a:bodyPr>
          <a:lstStyle/>
          <a:p>
            <a:pPr algn="l"/>
            <a:r>
              <a:rPr sz="1300" b="1" i="0">
                <a:solidFill>
                  <a:srgbClr val="141A19"/>
                </a:solidFill>
                <a:latin typeface="Calibri"/>
              </a:rPr>
              <a:t>a busy course week</a:t>
            </a:r>
          </a:p>
        </p:txBody>
      </p:sp>
      <p:sp>
        <p:nvSpPr>
          <p:cNvPr id="13" name="TextBox 12"/>
          <p:cNvSpPr txBox="1"/>
          <p:nvPr/>
        </p:nvSpPr>
        <p:spPr>
          <a:xfrm>
            <a:off x="6858000" y="2971800"/>
            <a:ext cx="1828800" cy="320040"/>
          </a:xfrm>
          <a:prstGeom prst="rect">
            <a:avLst/>
          </a:prstGeom>
          <a:noFill/>
        </p:spPr>
        <p:txBody>
          <a:bodyPr wrap="square" lIns="0" rIns="0" tIns="0" bIns="0" anchor="t">
            <a:spAutoFit/>
          </a:bodyPr>
          <a:lstStyle/>
          <a:p>
            <a:pPr algn="l"/>
            <a:r>
              <a:rPr sz="1200" b="0" i="0">
                <a:solidFill>
                  <a:srgbClr val="5F6B68"/>
                </a:solidFill>
                <a:latin typeface="Calibri"/>
              </a:rPr>
              <a:t>300 requests</a:t>
            </a:r>
          </a:p>
        </p:txBody>
      </p:sp>
      <p:sp>
        <p:nvSpPr>
          <p:cNvPr id="14" name="TextBox 13"/>
          <p:cNvSpPr txBox="1"/>
          <p:nvPr/>
        </p:nvSpPr>
        <p:spPr>
          <a:xfrm>
            <a:off x="8778240" y="2971800"/>
            <a:ext cx="2560320" cy="320040"/>
          </a:xfrm>
          <a:prstGeom prst="rect">
            <a:avLst/>
          </a:prstGeom>
          <a:noFill/>
        </p:spPr>
        <p:txBody>
          <a:bodyPr wrap="square" lIns="0" rIns="0" tIns="0" bIns="0" anchor="t">
            <a:spAutoFit/>
          </a:bodyPr>
          <a:lstStyle/>
          <a:p>
            <a:pPr algn="l"/>
            <a:r>
              <a:rPr sz="1150" b="0" i="0">
                <a:solidFill>
                  <a:srgbClr val="1F7A70"/>
                </a:solidFill>
                <a:latin typeface="Calibri"/>
              </a:rPr>
              <a:t>binds on Gemini 2.5 Flash</a:t>
            </a:r>
          </a:p>
        </p:txBody>
      </p:sp>
      <p:sp>
        <p:nvSpPr>
          <p:cNvPr id="15" name="Rounded Rectangle 14"/>
          <p:cNvSpPr/>
          <p:nvPr/>
        </p:nvSpPr>
        <p:spPr>
          <a:xfrm>
            <a:off x="4206240" y="3502152"/>
            <a:ext cx="7315200" cy="566928"/>
          </a:xfrm>
          <a:prstGeom prst="roundRect">
            <a:avLst>
              <a:gd name="adj" fmla="val 6000"/>
            </a:avLst>
          </a:prstGeom>
          <a:solidFill>
            <a:srgbClr val="F4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34840" y="3639312"/>
            <a:ext cx="2377440" cy="320040"/>
          </a:xfrm>
          <a:prstGeom prst="rect">
            <a:avLst/>
          </a:prstGeom>
          <a:noFill/>
        </p:spPr>
        <p:txBody>
          <a:bodyPr wrap="square" lIns="0" rIns="0" tIns="0" bIns="0" anchor="t">
            <a:spAutoFit/>
          </a:bodyPr>
          <a:lstStyle/>
          <a:p>
            <a:pPr algn="l"/>
            <a:r>
              <a:rPr sz="1300" b="1" i="0">
                <a:solidFill>
                  <a:srgbClr val="141A19"/>
                </a:solidFill>
                <a:latin typeface="Calibri"/>
              </a:rPr>
              <a:t>a hundred daily users</a:t>
            </a:r>
          </a:p>
        </p:txBody>
      </p:sp>
      <p:sp>
        <p:nvSpPr>
          <p:cNvPr id="17" name="TextBox 16"/>
          <p:cNvSpPr txBox="1"/>
          <p:nvPr/>
        </p:nvSpPr>
        <p:spPr>
          <a:xfrm>
            <a:off x="6858000" y="3648456"/>
            <a:ext cx="1828800" cy="320040"/>
          </a:xfrm>
          <a:prstGeom prst="rect">
            <a:avLst/>
          </a:prstGeom>
          <a:noFill/>
        </p:spPr>
        <p:txBody>
          <a:bodyPr wrap="square" lIns="0" rIns="0" tIns="0" bIns="0" anchor="t">
            <a:spAutoFit/>
          </a:bodyPr>
          <a:lstStyle/>
          <a:p>
            <a:pPr algn="l"/>
            <a:r>
              <a:rPr sz="1200" b="0" i="0">
                <a:solidFill>
                  <a:srgbClr val="5F6B68"/>
                </a:solidFill>
                <a:latin typeface="Calibri"/>
              </a:rPr>
              <a:t>1,520 requests</a:t>
            </a:r>
          </a:p>
        </p:txBody>
      </p:sp>
      <p:sp>
        <p:nvSpPr>
          <p:cNvPr id="18" name="TextBox 17"/>
          <p:cNvSpPr txBox="1"/>
          <p:nvPr/>
        </p:nvSpPr>
        <p:spPr>
          <a:xfrm>
            <a:off x="8778240" y="3648456"/>
            <a:ext cx="2560320" cy="320040"/>
          </a:xfrm>
          <a:prstGeom prst="rect">
            <a:avLst/>
          </a:prstGeom>
          <a:noFill/>
        </p:spPr>
        <p:txBody>
          <a:bodyPr wrap="square" lIns="0" rIns="0" tIns="0" bIns="0" anchor="t">
            <a:spAutoFit/>
          </a:bodyPr>
          <a:lstStyle/>
          <a:p>
            <a:pPr algn="l"/>
            <a:r>
              <a:rPr sz="1150" b="0" i="0">
                <a:solidFill>
                  <a:srgbClr val="1F7A70"/>
                </a:solidFill>
                <a:latin typeface="Calibri"/>
              </a:rPr>
              <a:t>binds on Gemini embeddings</a:t>
            </a:r>
          </a:p>
        </p:txBody>
      </p:sp>
      <p:sp>
        <p:nvSpPr>
          <p:cNvPr id="19" name="TextBox 18"/>
          <p:cNvSpPr txBox="1"/>
          <p:nvPr/>
        </p:nvSpPr>
        <p:spPr>
          <a:xfrm>
            <a:off x="685800" y="4434840"/>
            <a:ext cx="10820095" cy="1554480"/>
          </a:xfrm>
          <a:prstGeom prst="rect">
            <a:avLst/>
          </a:prstGeom>
          <a:noFill/>
        </p:spPr>
        <p:txBody>
          <a:bodyPr wrap="square" lIns="0" rIns="0">
            <a:spAutoFit/>
          </a:bodyPr>
          <a:lstStyle/>
          <a:p>
            <a:pPr>
              <a:lnSpc>
                <a:spcPct val="120000"/>
              </a:lnSpc>
              <a:spcAft>
                <a:spcPts val="1000"/>
              </a:spcAft>
            </a:pPr>
            <a:r>
              <a:rPr sz="1350">
                <a:solidFill>
                  <a:srgbClr val="141A19"/>
                </a:solidFill>
                <a:latin typeface="Calibri"/>
              </a:rPr>
              <a:t>The chain is local model, then two free API tiers, then an offline backend. The paid backend exists in the code and refuses to run behind two separate switches — a zero-cost claim should not be one environment variable away from being false.</a:t>
            </a:r>
          </a:p>
          <a:p>
            <a:pPr>
              <a:lnSpc>
                <a:spcPct val="120000"/>
              </a:lnSpc>
              <a:spcAft>
                <a:spcPts val="1000"/>
              </a:spcAft>
            </a:pPr>
            <a:r>
              <a:rPr sz="1350">
                <a:solidFill>
                  <a:srgbClr val="141A19"/>
                </a:solidFill>
                <a:latin typeface="Calibri"/>
              </a:rPr>
              <a:t>At a hundred daily users the binding constraint is embeddings, not generation. That says caching buys headroom, not a bigger model — and embeddings are already cached per chunk.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66928"/>
            <a:ext cx="10820095" cy="914400"/>
          </a:xfrm>
          <a:prstGeom prst="rect">
            <a:avLst/>
          </a:prstGeom>
          <a:noFill/>
        </p:spPr>
        <p:txBody>
          <a:bodyPr wrap="square" lIns="0" rIns="0" tIns="0" bIns="0" anchor="t">
            <a:spAutoFit/>
          </a:bodyPr>
          <a:lstStyle/>
          <a:p>
            <a:pPr algn="l"/>
            <a:r>
              <a:rPr sz="3800" b="1" i="0">
                <a:solidFill>
                  <a:srgbClr val="141A19"/>
                </a:solidFill>
                <a:latin typeface="Cambria"/>
              </a:rPr>
              <a:t>What I would not claim</a:t>
            </a:r>
          </a:p>
        </p:txBody>
      </p:sp>
      <p:sp>
        <p:nvSpPr>
          <p:cNvPr id="3" name="TextBox 2"/>
          <p:cNvSpPr txBox="1"/>
          <p:nvPr/>
        </p:nvSpPr>
        <p:spPr>
          <a:xfrm>
            <a:off x="685800" y="1389888"/>
            <a:ext cx="10820095" cy="457200"/>
          </a:xfrm>
          <a:prstGeom prst="rect">
            <a:avLst/>
          </a:prstGeom>
          <a:noFill/>
        </p:spPr>
        <p:txBody>
          <a:bodyPr wrap="square" lIns="0" rIns="0" tIns="0" bIns="0" anchor="t">
            <a:spAutoFit/>
          </a:bodyPr>
          <a:lstStyle/>
          <a:p>
            <a:pPr algn="l"/>
            <a:r>
              <a:rPr sz="1400" b="0" i="1">
                <a:solidFill>
                  <a:srgbClr val="5F6B68"/>
                </a:solidFill>
                <a:latin typeface="Calibri"/>
              </a:rPr>
              <a:t>In the order these would change a conclusion</a:t>
            </a:r>
          </a:p>
        </p:txBody>
      </p:sp>
      <p:sp>
        <p:nvSpPr>
          <p:cNvPr id="4" name="Rounded Rectangle 3"/>
          <p:cNvSpPr/>
          <p:nvPr/>
        </p:nvSpPr>
        <p:spPr>
          <a:xfrm>
            <a:off x="685800" y="2194560"/>
            <a:ext cx="5257800" cy="1691640"/>
          </a:xfrm>
          <a:prstGeom prst="roundRect">
            <a:avLst>
              <a:gd name="adj" fmla="val 6000"/>
            </a:avLst>
          </a:prstGeom>
          <a:solidFill>
            <a:srgbClr val="F6F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2377440"/>
            <a:ext cx="4709160" cy="365760"/>
          </a:xfrm>
          <a:prstGeom prst="rect">
            <a:avLst/>
          </a:prstGeom>
          <a:noFill/>
        </p:spPr>
        <p:txBody>
          <a:bodyPr wrap="square" lIns="0" rIns="0" tIns="0" bIns="0" anchor="t">
            <a:spAutoFit/>
          </a:bodyPr>
          <a:lstStyle/>
          <a:p>
            <a:pPr algn="l"/>
            <a:r>
              <a:rPr sz="1600" b="1" i="0">
                <a:solidFill>
                  <a:srgbClr val="141A19"/>
                </a:solidFill>
                <a:latin typeface="Cambria"/>
              </a:rPr>
              <a:t>The data</a:t>
            </a:r>
          </a:p>
        </p:txBody>
      </p:sp>
      <p:sp>
        <p:nvSpPr>
          <p:cNvPr id="6" name="TextBox 5"/>
          <p:cNvSpPr txBox="1"/>
          <p:nvPr/>
        </p:nvSpPr>
        <p:spPr>
          <a:xfrm>
            <a:off x="960120" y="2798064"/>
            <a:ext cx="4709160" cy="960120"/>
          </a:xfrm>
          <a:prstGeom prst="rect">
            <a:avLst/>
          </a:prstGeom>
          <a:noFill/>
        </p:spPr>
        <p:txBody>
          <a:bodyPr wrap="square" lIns="0" rIns="0" tIns="0" bIns="0" anchor="t">
            <a:spAutoFit/>
          </a:bodyPr>
          <a:lstStyle/>
          <a:p>
            <a:pPr algn="l"/>
            <a:r>
              <a:rPr sz="1150" b="0" i="0">
                <a:solidFill>
                  <a:srgbClr val="5F6B68"/>
                </a:solidFill>
                <a:latin typeface="Calibri"/>
              </a:rPr>
              <a:t>The publisher will not serve its files to a machine — Dubai Pulse times out at connect from every network tried, including a GitHub runner with open egress. Everything downstream runs on a labelled stand-in.</a:t>
            </a:r>
          </a:p>
        </p:txBody>
      </p:sp>
      <p:sp>
        <p:nvSpPr>
          <p:cNvPr id="7" name="Rounded Rectangle 6"/>
          <p:cNvSpPr/>
          <p:nvPr/>
        </p:nvSpPr>
        <p:spPr>
          <a:xfrm>
            <a:off x="6217920" y="2194560"/>
            <a:ext cx="5257800" cy="1691640"/>
          </a:xfrm>
          <a:prstGeom prst="roundRect">
            <a:avLst>
              <a:gd name="adj" fmla="val 6000"/>
            </a:avLst>
          </a:prstGeom>
          <a:solidFill>
            <a:srgbClr val="F6F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2377440"/>
            <a:ext cx="4709160" cy="365760"/>
          </a:xfrm>
          <a:prstGeom prst="rect">
            <a:avLst/>
          </a:prstGeom>
          <a:noFill/>
        </p:spPr>
        <p:txBody>
          <a:bodyPr wrap="square" lIns="0" rIns="0" tIns="0" bIns="0" anchor="t">
            <a:spAutoFit/>
          </a:bodyPr>
          <a:lstStyle/>
          <a:p>
            <a:pPr algn="l"/>
            <a:r>
              <a:rPr sz="1600" b="1" i="0">
                <a:solidFill>
                  <a:srgbClr val="141A19"/>
                </a:solidFill>
                <a:latin typeface="Cambria"/>
              </a:rPr>
              <a:t>The retrieval numbers</a:t>
            </a:r>
          </a:p>
        </p:txBody>
      </p:sp>
      <p:sp>
        <p:nvSpPr>
          <p:cNvPr id="9" name="TextBox 8"/>
          <p:cNvSpPr txBox="1"/>
          <p:nvPr/>
        </p:nvSpPr>
        <p:spPr>
          <a:xfrm>
            <a:off x="6492240" y="2798064"/>
            <a:ext cx="4709160" cy="960120"/>
          </a:xfrm>
          <a:prstGeom prst="rect">
            <a:avLst/>
          </a:prstGeom>
          <a:noFill/>
        </p:spPr>
        <p:txBody>
          <a:bodyPr wrap="square" lIns="0" rIns="0" tIns="0" bIns="0" anchor="t">
            <a:spAutoFit/>
          </a:bodyPr>
          <a:lstStyle/>
          <a:p>
            <a:pPr algn="l"/>
            <a:r>
              <a:rPr sz="1150" b="0" i="0">
                <a:solidFill>
                  <a:srgbClr val="5F6B68"/>
                </a:solidFill>
                <a:latin typeface="Calibri"/>
              </a:rPr>
              <a:t>117 chunks from 5 documents. Recall@5 of 1.00 is easy at that size, few of the cases are Arabic, and the evaluation ran against the offline fallback rather than the hybrid design it is meant to measure.</a:t>
            </a:r>
          </a:p>
        </p:txBody>
      </p:sp>
      <p:sp>
        <p:nvSpPr>
          <p:cNvPr id="10" name="Rounded Rectangle 9"/>
          <p:cNvSpPr/>
          <p:nvPr/>
        </p:nvSpPr>
        <p:spPr>
          <a:xfrm>
            <a:off x="685800" y="4160520"/>
            <a:ext cx="5257800" cy="1691640"/>
          </a:xfrm>
          <a:prstGeom prst="roundRect">
            <a:avLst>
              <a:gd name="adj" fmla="val 6000"/>
            </a:avLst>
          </a:prstGeom>
          <a:solidFill>
            <a:srgbClr val="F6F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4343400"/>
            <a:ext cx="4709160" cy="365760"/>
          </a:xfrm>
          <a:prstGeom prst="rect">
            <a:avLst/>
          </a:prstGeom>
          <a:noFill/>
        </p:spPr>
        <p:txBody>
          <a:bodyPr wrap="square" lIns="0" rIns="0" tIns="0" bIns="0" anchor="t">
            <a:spAutoFit/>
          </a:bodyPr>
          <a:lstStyle/>
          <a:p>
            <a:pPr algn="l"/>
            <a:r>
              <a:rPr sz="1600" b="1" i="0">
                <a:solidFill>
                  <a:srgbClr val="141A19"/>
                </a:solidFill>
                <a:latin typeface="Cambria"/>
              </a:rPr>
              <a:t>Service charges</a:t>
            </a:r>
          </a:p>
        </p:txBody>
      </p:sp>
      <p:sp>
        <p:nvSpPr>
          <p:cNvPr id="12" name="TextBox 11"/>
          <p:cNvSpPr txBox="1"/>
          <p:nvPr/>
        </p:nvSpPr>
        <p:spPr>
          <a:xfrm>
            <a:off x="960120" y="4764024"/>
            <a:ext cx="4709160" cy="960120"/>
          </a:xfrm>
          <a:prstGeom prst="rect">
            <a:avLst/>
          </a:prstGeom>
          <a:noFill/>
        </p:spPr>
        <p:txBody>
          <a:bodyPr wrap="square" lIns="0" rIns="0" tIns="0" bIns="0" anchor="t">
            <a:spAutoFit/>
          </a:bodyPr>
          <a:lstStyle/>
          <a:p>
            <a:pPr algn="l"/>
            <a:r>
              <a:rPr sz="1150" b="0" i="0">
                <a:solidFill>
                  <a:srgbClr val="5F6B68"/>
                </a:solidFill>
                <a:latin typeface="Calibri"/>
              </a:rPr>
              <a:t>Estimated, and they are the largest single input to net yield. Per-building figures would reorder the communities.</a:t>
            </a:r>
          </a:p>
        </p:txBody>
      </p:sp>
      <p:sp>
        <p:nvSpPr>
          <p:cNvPr id="13" name="Rounded Rectangle 12"/>
          <p:cNvSpPr/>
          <p:nvPr/>
        </p:nvSpPr>
        <p:spPr>
          <a:xfrm>
            <a:off x="6217920" y="4160520"/>
            <a:ext cx="5257800" cy="1691640"/>
          </a:xfrm>
          <a:prstGeom prst="roundRect">
            <a:avLst>
              <a:gd name="adj" fmla="val 6000"/>
            </a:avLst>
          </a:prstGeom>
          <a:solidFill>
            <a:srgbClr val="F6F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4343400"/>
            <a:ext cx="4709160" cy="365760"/>
          </a:xfrm>
          <a:prstGeom prst="rect">
            <a:avLst/>
          </a:prstGeom>
          <a:noFill/>
        </p:spPr>
        <p:txBody>
          <a:bodyPr wrap="square" lIns="0" rIns="0" tIns="0" bIns="0" anchor="t">
            <a:spAutoFit/>
          </a:bodyPr>
          <a:lstStyle/>
          <a:p>
            <a:pPr algn="l"/>
            <a:r>
              <a:rPr sz="1600" b="1" i="0">
                <a:solidFill>
                  <a:srgbClr val="141A19"/>
                </a:solidFill>
                <a:latin typeface="Cambria"/>
              </a:rPr>
              <a:t>Community shapes</a:t>
            </a:r>
          </a:p>
        </p:txBody>
      </p:sp>
      <p:sp>
        <p:nvSpPr>
          <p:cNvPr id="15" name="TextBox 14"/>
          <p:cNvSpPr txBox="1"/>
          <p:nvPr/>
        </p:nvSpPr>
        <p:spPr>
          <a:xfrm>
            <a:off x="6492240" y="4764024"/>
            <a:ext cx="4709160" cy="960120"/>
          </a:xfrm>
          <a:prstGeom prst="rect">
            <a:avLst/>
          </a:prstGeom>
          <a:noFill/>
        </p:spPr>
        <p:txBody>
          <a:bodyPr wrap="square" lIns="0" rIns="0" tIns="0" bIns="0" anchor="t">
            <a:spAutoFit/>
          </a:bodyPr>
          <a:lstStyle/>
          <a:p>
            <a:pPr algn="l"/>
            <a:r>
              <a:rPr sz="1150" b="0" i="0">
                <a:solidFill>
                  <a:srgbClr val="5F6B68"/>
                </a:solidFill>
                <a:latin typeface="Calibri"/>
              </a:rPr>
              <a:t>Curated centroid hexes, not true polygons — no GeoJSON source was reachable. Never used in a financial calculation.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0"/>
            <a:ext cx="12191695" cy="2880360"/>
          </a:xfrm>
          <a:prstGeom prst="roundRect">
            <a:avLst>
              <a:gd name="adj" fmla="val 6000"/>
            </a:avLst>
          </a:prstGeom>
          <a:solidFill>
            <a:srgbClr val="1F7A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868680"/>
            <a:ext cx="10515600" cy="822960"/>
          </a:xfrm>
          <a:prstGeom prst="rect">
            <a:avLst/>
          </a:prstGeom>
          <a:noFill/>
        </p:spPr>
        <p:txBody>
          <a:bodyPr wrap="square" lIns="0" rIns="0" tIns="0" bIns="0" anchor="t">
            <a:spAutoFit/>
          </a:bodyPr>
          <a:lstStyle/>
          <a:p>
            <a:pPr algn="l"/>
            <a:r>
              <a:rPr sz="4000" b="1" i="0">
                <a:solidFill>
                  <a:srgbClr val="FFFFFF"/>
                </a:solidFill>
                <a:latin typeface="Cambria"/>
              </a:rPr>
              <a:t>Where it goes next</a:t>
            </a:r>
          </a:p>
        </p:txBody>
      </p:sp>
      <p:sp>
        <p:nvSpPr>
          <p:cNvPr id="4" name="TextBox 3"/>
          <p:cNvSpPr txBox="1"/>
          <p:nvPr/>
        </p:nvSpPr>
        <p:spPr>
          <a:xfrm>
            <a:off x="685800" y="1783080"/>
            <a:ext cx="9601200" cy="640080"/>
          </a:xfrm>
          <a:prstGeom prst="rect">
            <a:avLst/>
          </a:prstGeom>
          <a:noFill/>
        </p:spPr>
        <p:txBody>
          <a:bodyPr wrap="square" lIns="0" rIns="0" tIns="0" bIns="0" anchor="t">
            <a:spAutoFit/>
          </a:bodyPr>
          <a:lstStyle/>
          <a:p>
            <a:pPr algn="l"/>
            <a:r>
              <a:rPr sz="1500" b="0" i="1">
                <a:solidFill>
                  <a:srgbClr val="FFFFFF"/>
                </a:solidFill>
                <a:latin typeface="Calibri"/>
              </a:rPr>
              <a:t>In the order that each would change an answer, rather than the order they are easy.</a:t>
            </a:r>
          </a:p>
        </p:txBody>
      </p:sp>
      <p:sp>
        <p:nvSpPr>
          <p:cNvPr id="5" name="Rounded Rectangle 4"/>
          <p:cNvSpPr/>
          <p:nvPr/>
        </p:nvSpPr>
        <p:spPr>
          <a:xfrm>
            <a:off x="685800" y="3291840"/>
            <a:ext cx="3429000" cy="1965960"/>
          </a:xfrm>
          <a:prstGeom prst="roundRect">
            <a:avLst>
              <a:gd name="adj" fmla="val 6000"/>
            </a:avLst>
          </a:prstGeom>
          <a:solidFill>
            <a:srgbClr val="E6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41832" y="3520440"/>
            <a:ext cx="457200" cy="457200"/>
          </a:xfrm>
          <a:prstGeom prst="ellipse">
            <a:avLst/>
          </a:prstGeom>
          <a:solidFill>
            <a:srgbClr val="1F7A7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mbria"/>
              </a:rPr>
              <a:t>1</a:t>
            </a:r>
          </a:p>
        </p:txBody>
      </p:sp>
      <p:sp>
        <p:nvSpPr>
          <p:cNvPr id="7" name="TextBox 6"/>
          <p:cNvSpPr txBox="1"/>
          <p:nvPr/>
        </p:nvSpPr>
        <p:spPr>
          <a:xfrm>
            <a:off x="1508760" y="3566160"/>
            <a:ext cx="2468880" cy="411480"/>
          </a:xfrm>
          <a:prstGeom prst="rect">
            <a:avLst/>
          </a:prstGeom>
          <a:noFill/>
        </p:spPr>
        <p:txBody>
          <a:bodyPr wrap="square" lIns="0" rIns="0" tIns="0" bIns="0" anchor="t">
            <a:spAutoFit/>
          </a:bodyPr>
          <a:lstStyle/>
          <a:p>
            <a:pPr algn="l"/>
            <a:r>
              <a:rPr sz="1350" b="1" i="0">
                <a:solidFill>
                  <a:srgbClr val="141A19"/>
                </a:solidFill>
                <a:latin typeface="Cambria"/>
              </a:rPr>
              <a:t>Real registry files</a:t>
            </a:r>
          </a:p>
        </p:txBody>
      </p:sp>
      <p:sp>
        <p:nvSpPr>
          <p:cNvPr id="8" name="TextBox 7"/>
          <p:cNvSpPr txBox="1"/>
          <p:nvPr/>
        </p:nvSpPr>
        <p:spPr>
          <a:xfrm>
            <a:off x="941832" y="4160520"/>
            <a:ext cx="2926080" cy="1005840"/>
          </a:xfrm>
          <a:prstGeom prst="rect">
            <a:avLst/>
          </a:prstGeom>
          <a:noFill/>
        </p:spPr>
        <p:txBody>
          <a:bodyPr wrap="square" lIns="0" rIns="0" tIns="0" bIns="0" anchor="t">
            <a:spAutoFit/>
          </a:bodyPr>
          <a:lstStyle/>
          <a:p>
            <a:pPr algn="l"/>
            <a:r>
              <a:rPr sz="1100" b="0" i="0">
                <a:solidFill>
                  <a:srgbClr val="5F6B68"/>
                </a:solidFill>
                <a:latin typeface="Calibri"/>
              </a:rPr>
              <a:t>A standing agreement with the Land Department, or the operator upload path that already exists. Removes the largest limitation.</a:t>
            </a:r>
          </a:p>
        </p:txBody>
      </p:sp>
      <p:sp>
        <p:nvSpPr>
          <p:cNvPr id="9" name="Rounded Rectangle 8"/>
          <p:cNvSpPr/>
          <p:nvPr/>
        </p:nvSpPr>
        <p:spPr>
          <a:xfrm>
            <a:off x="4389120" y="3291840"/>
            <a:ext cx="3429000" cy="1965960"/>
          </a:xfrm>
          <a:prstGeom prst="roundRect">
            <a:avLst>
              <a:gd name="adj" fmla="val 6000"/>
            </a:avLst>
          </a:prstGeom>
          <a:solidFill>
            <a:srgbClr val="E6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645152" y="3520440"/>
            <a:ext cx="457200" cy="457200"/>
          </a:xfrm>
          <a:prstGeom prst="ellipse">
            <a:avLst/>
          </a:prstGeom>
          <a:solidFill>
            <a:srgbClr val="1F7A7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mbria"/>
              </a:rPr>
              <a:t>2</a:t>
            </a:r>
          </a:p>
        </p:txBody>
      </p:sp>
      <p:sp>
        <p:nvSpPr>
          <p:cNvPr id="11" name="TextBox 10"/>
          <p:cNvSpPr txBox="1"/>
          <p:nvPr/>
        </p:nvSpPr>
        <p:spPr>
          <a:xfrm>
            <a:off x="5212080" y="3566160"/>
            <a:ext cx="2468880" cy="411480"/>
          </a:xfrm>
          <a:prstGeom prst="rect">
            <a:avLst/>
          </a:prstGeom>
          <a:noFill/>
        </p:spPr>
        <p:txBody>
          <a:bodyPr wrap="square" lIns="0" rIns="0" tIns="0" bIns="0" anchor="t">
            <a:spAutoFit/>
          </a:bodyPr>
          <a:lstStyle/>
          <a:p>
            <a:pPr algn="l"/>
            <a:r>
              <a:rPr sz="1350" b="1" i="0">
                <a:solidFill>
                  <a:srgbClr val="141A19"/>
                </a:solidFill>
                <a:latin typeface="Cambria"/>
              </a:rPr>
              <a:t>Per-building service charges</a:t>
            </a:r>
          </a:p>
        </p:txBody>
      </p:sp>
      <p:sp>
        <p:nvSpPr>
          <p:cNvPr id="12" name="TextBox 11"/>
          <p:cNvSpPr txBox="1"/>
          <p:nvPr/>
        </p:nvSpPr>
        <p:spPr>
          <a:xfrm>
            <a:off x="4645152" y="4160520"/>
            <a:ext cx="2926080" cy="1005840"/>
          </a:xfrm>
          <a:prstGeom prst="rect">
            <a:avLst/>
          </a:prstGeom>
          <a:noFill/>
        </p:spPr>
        <p:txBody>
          <a:bodyPr wrap="square" lIns="0" rIns="0" tIns="0" bIns="0" anchor="t">
            <a:spAutoFit/>
          </a:bodyPr>
          <a:lstStyle/>
          <a:p>
            <a:pPr algn="l"/>
            <a:r>
              <a:rPr sz="1100" b="0" i="0">
                <a:solidFill>
                  <a:srgbClr val="5F6B68"/>
                </a:solidFill>
                <a:latin typeface="Calibri"/>
              </a:rPr>
              <a:t>They dominate net yield and are currently estimated. This is what changes rankings.</a:t>
            </a:r>
          </a:p>
        </p:txBody>
      </p:sp>
      <p:sp>
        <p:nvSpPr>
          <p:cNvPr id="13" name="Rounded Rectangle 12"/>
          <p:cNvSpPr/>
          <p:nvPr/>
        </p:nvSpPr>
        <p:spPr>
          <a:xfrm>
            <a:off x="8092440" y="3291840"/>
            <a:ext cx="3429000" cy="1965960"/>
          </a:xfrm>
          <a:prstGeom prst="roundRect">
            <a:avLst>
              <a:gd name="adj" fmla="val 6000"/>
            </a:avLst>
          </a:prstGeom>
          <a:solidFill>
            <a:srgbClr val="E6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348472" y="3520440"/>
            <a:ext cx="457200" cy="457200"/>
          </a:xfrm>
          <a:prstGeom prst="ellipse">
            <a:avLst/>
          </a:prstGeom>
          <a:solidFill>
            <a:srgbClr val="1F7A7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mbria"/>
              </a:rPr>
              <a:t>3</a:t>
            </a:r>
          </a:p>
        </p:txBody>
      </p:sp>
      <p:sp>
        <p:nvSpPr>
          <p:cNvPr id="15" name="TextBox 14"/>
          <p:cNvSpPr txBox="1"/>
          <p:nvPr/>
        </p:nvSpPr>
        <p:spPr>
          <a:xfrm>
            <a:off x="8915400" y="3566160"/>
            <a:ext cx="2468880" cy="411480"/>
          </a:xfrm>
          <a:prstGeom prst="rect">
            <a:avLst/>
          </a:prstGeom>
          <a:noFill/>
        </p:spPr>
        <p:txBody>
          <a:bodyPr wrap="square" lIns="0" rIns="0" tIns="0" bIns="0" anchor="t">
            <a:spAutoFit/>
          </a:bodyPr>
          <a:lstStyle/>
          <a:p>
            <a:pPr algn="l"/>
            <a:r>
              <a:rPr sz="1350" b="1" i="0">
                <a:solidFill>
                  <a:srgbClr val="141A19"/>
                </a:solidFill>
                <a:latin typeface="Cambria"/>
              </a:rPr>
              <a:t>Retrieval on a real corpus</a:t>
            </a:r>
          </a:p>
        </p:txBody>
      </p:sp>
      <p:sp>
        <p:nvSpPr>
          <p:cNvPr id="16" name="TextBox 15"/>
          <p:cNvSpPr txBox="1"/>
          <p:nvPr/>
        </p:nvSpPr>
        <p:spPr>
          <a:xfrm>
            <a:off x="8348472" y="4160520"/>
            <a:ext cx="2926080" cy="1005840"/>
          </a:xfrm>
          <a:prstGeom prst="rect">
            <a:avLst/>
          </a:prstGeom>
          <a:noFill/>
        </p:spPr>
        <p:txBody>
          <a:bodyPr wrap="square" lIns="0" rIns="0" tIns="0" bIns="0" anchor="t">
            <a:spAutoFit/>
          </a:bodyPr>
          <a:lstStyle/>
          <a:p>
            <a:pPr algn="l"/>
            <a:r>
              <a:rPr sz="1100" b="0" i="0">
                <a:solidFill>
                  <a:srgbClr val="5F6B68"/>
                </a:solidFill>
                <a:latin typeface="Calibri"/>
              </a:rPr>
              <a:t>Score the hybrid design against a live embedding provider, on a corpus big enough for recall to mean something.</a:t>
            </a:r>
          </a:p>
        </p:txBody>
      </p:sp>
      <p:sp>
        <p:nvSpPr>
          <p:cNvPr id="17" name="TextBox 16"/>
          <p:cNvSpPr txBox="1"/>
          <p:nvPr/>
        </p:nvSpPr>
        <p:spPr>
          <a:xfrm>
            <a:off x="685800" y="5623560"/>
            <a:ext cx="10515600" cy="457200"/>
          </a:xfrm>
          <a:prstGeom prst="rect">
            <a:avLst/>
          </a:prstGeom>
          <a:noFill/>
        </p:spPr>
        <p:txBody>
          <a:bodyPr wrap="square" lIns="0" rIns="0" tIns="0" bIns="0" anchor="t">
            <a:spAutoFit/>
          </a:bodyPr>
          <a:lstStyle/>
          <a:p>
            <a:pPr algn="l"/>
            <a:r>
              <a:rPr sz="2600" b="1" i="0">
                <a:solidFill>
                  <a:srgbClr val="141A19"/>
                </a:solidFill>
                <a:latin typeface="Cambria"/>
              </a:rPr>
              <a:t>Thank you</a:t>
            </a:r>
          </a:p>
        </p:txBody>
      </p:sp>
      <p:sp>
        <p:nvSpPr>
          <p:cNvPr id="18" name="TextBox 17"/>
          <p:cNvSpPr txBox="1"/>
          <p:nvPr/>
        </p:nvSpPr>
        <p:spPr>
          <a:xfrm>
            <a:off x="685800" y="6144768"/>
            <a:ext cx="10515600" cy="365760"/>
          </a:xfrm>
          <a:prstGeom prst="rect">
            <a:avLst/>
          </a:prstGeom>
          <a:noFill/>
        </p:spPr>
        <p:txBody>
          <a:bodyPr wrap="square" lIns="0" rIns="0" tIns="0" bIns="0" anchor="t">
            <a:spAutoFit/>
          </a:bodyPr>
          <a:lstStyle/>
          <a:p>
            <a:pPr algn="l"/>
            <a:r>
              <a:rPr sz="1200" b="0" i="0">
                <a:solidFill>
                  <a:srgbClr val="1F7A70"/>
                </a:solidFill>
                <a:latin typeface="Calibri"/>
              </a:rPr>
              <a:t>https://yieldmap.vercel.app   ·   github.com/krish2105/YIELDMAP-AI-in-Finance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